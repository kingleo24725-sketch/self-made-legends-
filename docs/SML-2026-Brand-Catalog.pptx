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4.svg" ContentType="image/svg+xml"/>
  <Override PartName="/ppt/media/image85.svg" ContentType="image/svg+xml"/>
  <Override PartName="/ppt/media/image86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3.svg" ContentType="image/svg+xml"/>
  <Override PartName="/ppt/media/image94.svg" ContentType="image/svg+xml"/>
  <Override PartName="/ppt/media/image95.svg" ContentType="image/svg+xml"/>
  <Override PartName="/ppt/media/image96.svg" ContentType="image/svg+xml"/>
  <Override PartName="/ppt/media/image97.svg" ContentType="image/svg+xml"/>
  <Override PartName="/ppt/media/image98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78AB91-7E72-F44D-A01D-6AC258C90B3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51CF9B-03EE-FC4E-A40A-EDEBBDF35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6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svg"/><Relationship Id="rId6" Type="http://schemas.openxmlformats.org/officeDocument/2006/relationships/image" Target="../media/image4.svg"/><Relationship Id="rId7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Relationship Id="rId8" Type="http://schemas.openxmlformats.org/officeDocument/2006/relationships/image" Target="../media/image11.svg"/><Relationship Id="rId9" Type="http://schemas.openxmlformats.org/officeDocument/2006/relationships/image" Target="../media/image12.svg"/><Relationship Id="rId10" Type="http://schemas.openxmlformats.org/officeDocument/2006/relationships/image" Target="../media/image13.svg"/><Relationship Id="rId11" Type="http://schemas.openxmlformats.org/officeDocument/2006/relationships/image" Target="../media/image1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Relationship Id="rId6" Type="http://schemas.openxmlformats.org/officeDocument/2006/relationships/image" Target="../media/image18.svg"/><Relationship Id="rId7" Type="http://schemas.openxmlformats.org/officeDocument/2006/relationships/image" Target="../media/image19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svg"/><Relationship Id="rId4" Type="http://schemas.openxmlformats.org/officeDocument/2006/relationships/image" Target="../media/image21.svg"/><Relationship Id="rId5" Type="http://schemas.openxmlformats.org/officeDocument/2006/relationships/image" Target="../media/image22.svg"/><Relationship Id="rId6" Type="http://schemas.openxmlformats.org/officeDocument/2006/relationships/image" Target="../media/image23.svg"/><Relationship Id="rId7" Type="http://schemas.openxmlformats.org/officeDocument/2006/relationships/image" Target="../media/image24.svg"/><Relationship Id="rId8" Type="http://schemas.openxmlformats.org/officeDocument/2006/relationships/image" Target="../media/image25.svg"/><Relationship Id="rId9" Type="http://schemas.openxmlformats.org/officeDocument/2006/relationships/image" Target="../media/image2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svg"/><Relationship Id="rId4" Type="http://schemas.openxmlformats.org/officeDocument/2006/relationships/image" Target="../media/image28.svg"/><Relationship Id="rId5" Type="http://schemas.openxmlformats.org/officeDocument/2006/relationships/image" Target="../media/image29.sv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34.svg"/><Relationship Id="rId11" Type="http://schemas.openxmlformats.org/officeDocument/2006/relationships/image" Target="../media/image35.svg"/><Relationship Id="rId12" Type="http://schemas.openxmlformats.org/officeDocument/2006/relationships/image" Target="../media/image36.svg"/><Relationship Id="rId13" Type="http://schemas.openxmlformats.org/officeDocument/2006/relationships/image" Target="../media/image37.svg"/><Relationship Id="rId14" Type="http://schemas.openxmlformats.org/officeDocument/2006/relationships/image" Target="../media/image38.svg"/><Relationship Id="rId15" Type="http://schemas.openxmlformats.org/officeDocument/2006/relationships/image" Target="../media/image39.svg"/><Relationship Id="rId16" Type="http://schemas.openxmlformats.org/officeDocument/2006/relationships/image" Target="../media/image40.svg"/><Relationship Id="rId17" Type="http://schemas.openxmlformats.org/officeDocument/2006/relationships/image" Target="../media/image41.svg"/><Relationship Id="rId18" Type="http://schemas.openxmlformats.org/officeDocument/2006/relationships/image" Target="../media/image42.svg"/><Relationship Id="rId19" Type="http://schemas.openxmlformats.org/officeDocument/2006/relationships/image" Target="../media/image43.svg"/><Relationship Id="rId20" Type="http://schemas.openxmlformats.org/officeDocument/2006/relationships/image" Target="../media/image4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5.svg"/><Relationship Id="rId4" Type="http://schemas.openxmlformats.org/officeDocument/2006/relationships/image" Target="../media/image46.svg"/><Relationship Id="rId5" Type="http://schemas.openxmlformats.org/officeDocument/2006/relationships/image" Target="../media/image47.svg"/><Relationship Id="rId6" Type="http://schemas.openxmlformats.org/officeDocument/2006/relationships/image" Target="../media/image4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9.svg"/><Relationship Id="rId4" Type="http://schemas.openxmlformats.org/officeDocument/2006/relationships/image" Target="../media/image50.svg"/><Relationship Id="rId5" Type="http://schemas.openxmlformats.org/officeDocument/2006/relationships/image" Target="../media/image51.svg"/><Relationship Id="rId6" Type="http://schemas.openxmlformats.org/officeDocument/2006/relationships/image" Target="../media/image52.svg"/><Relationship Id="rId7" Type="http://schemas.openxmlformats.org/officeDocument/2006/relationships/image" Target="../media/image53.svg"/><Relationship Id="rId8" Type="http://schemas.openxmlformats.org/officeDocument/2006/relationships/image" Target="../media/image5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5.svg"/><Relationship Id="rId4" Type="http://schemas.openxmlformats.org/officeDocument/2006/relationships/image" Target="../media/image56.svg"/><Relationship Id="rId5" Type="http://schemas.openxmlformats.org/officeDocument/2006/relationships/image" Target="../media/image57.svg"/><Relationship Id="rId6" Type="http://schemas.openxmlformats.org/officeDocument/2006/relationships/image" Target="../media/image58.svg"/><Relationship Id="rId7" Type="http://schemas.openxmlformats.org/officeDocument/2006/relationships/image" Target="../media/image5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0.png"/><Relationship Id="rId4" Type="http://schemas.openxmlformats.org/officeDocument/2006/relationships/image" Target="../media/image61.svg"/><Relationship Id="rId5" Type="http://schemas.openxmlformats.org/officeDocument/2006/relationships/image" Target="../media/image62.svg"/><Relationship Id="rId6" Type="http://schemas.openxmlformats.org/officeDocument/2006/relationships/image" Target="../media/image63.svg"/><Relationship Id="rId7" Type="http://schemas.openxmlformats.org/officeDocument/2006/relationships/image" Target="../media/image64.svg"/><Relationship Id="rId8" Type="http://schemas.openxmlformats.org/officeDocument/2006/relationships/image" Target="../media/image65.svg"/><Relationship Id="rId9" Type="http://schemas.openxmlformats.org/officeDocument/2006/relationships/image" Target="../media/image66.svg"/><Relationship Id="rId10" Type="http://schemas.openxmlformats.org/officeDocument/2006/relationships/image" Target="../media/image67.svg"/><Relationship Id="rId11" Type="http://schemas.openxmlformats.org/officeDocument/2006/relationships/image" Target="../media/image68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9.svg"/><Relationship Id="rId4" Type="http://schemas.openxmlformats.org/officeDocument/2006/relationships/image" Target="../media/image70.svg"/><Relationship Id="rId5" Type="http://schemas.openxmlformats.org/officeDocument/2006/relationships/image" Target="../media/image71.svg"/><Relationship Id="rId6" Type="http://schemas.openxmlformats.org/officeDocument/2006/relationships/image" Target="../media/image72.svg"/><Relationship Id="rId7" Type="http://schemas.openxmlformats.org/officeDocument/2006/relationships/image" Target="../media/image73.svg"/><Relationship Id="rId8" Type="http://schemas.openxmlformats.org/officeDocument/2006/relationships/image" Target="../media/image74.svg"/><Relationship Id="rId9" Type="http://schemas.openxmlformats.org/officeDocument/2006/relationships/image" Target="../media/image75.svg"/><Relationship Id="rId10" Type="http://schemas.openxmlformats.org/officeDocument/2006/relationships/image" Target="../media/image76.svg"/><Relationship Id="rId11" Type="http://schemas.openxmlformats.org/officeDocument/2006/relationships/image" Target="../media/image77.svg"/><Relationship Id="rId12" Type="http://schemas.openxmlformats.org/officeDocument/2006/relationships/image" Target="../media/image78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9.svg"/><Relationship Id="rId4" Type="http://schemas.openxmlformats.org/officeDocument/2006/relationships/image" Target="../media/image80.svg"/><Relationship Id="rId5" Type="http://schemas.openxmlformats.org/officeDocument/2006/relationships/image" Target="../media/image81.svg"/><Relationship Id="rId6" Type="http://schemas.openxmlformats.org/officeDocument/2006/relationships/image" Target="../media/image82.svg"/><Relationship Id="rId7" Type="http://schemas.openxmlformats.org/officeDocument/2006/relationships/image" Target="../media/image83.svg"/><Relationship Id="rId8" Type="http://schemas.openxmlformats.org/officeDocument/2006/relationships/image" Target="../media/image84.svg"/><Relationship Id="rId9" Type="http://schemas.openxmlformats.org/officeDocument/2006/relationships/image" Target="../media/image85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6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7.svg"/><Relationship Id="rId4" Type="http://schemas.openxmlformats.org/officeDocument/2006/relationships/image" Target="../media/image88.svg"/><Relationship Id="rId5" Type="http://schemas.openxmlformats.org/officeDocument/2006/relationships/image" Target="../media/image89.svg"/><Relationship Id="rId6" Type="http://schemas.openxmlformats.org/officeDocument/2006/relationships/image" Target="../media/image90.svg"/><Relationship Id="rId7" Type="http://schemas.openxmlformats.org/officeDocument/2006/relationships/image" Target="../media/image91.svg"/><Relationship Id="rId8" Type="http://schemas.openxmlformats.org/officeDocument/2006/relationships/image" Target="../media/image92.svg"/><Relationship Id="rId9" Type="http://schemas.openxmlformats.org/officeDocument/2006/relationships/image" Target="../media/image93.svg"/><Relationship Id="rId10" Type="http://schemas.openxmlformats.org/officeDocument/2006/relationships/image" Target="../media/image9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5.svg"/><Relationship Id="rId4" Type="http://schemas.openxmlformats.org/officeDocument/2006/relationships/image" Target="../media/image96.svg"/><Relationship Id="rId5" Type="http://schemas.openxmlformats.org/officeDocument/2006/relationships/image" Target="../media/image97.svg"/><Relationship Id="rId6" Type="http://schemas.openxmlformats.org/officeDocument/2006/relationships/image" Target="../media/image98.svg"/><Relationship Id="rId7" Type="http://schemas.openxmlformats.org/officeDocument/2006/relationships/image" Target="../media/image99.svg"/><Relationship Id="rId8" Type="http://schemas.openxmlformats.org/officeDocument/2006/relationships/image" Target="../media/image10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2973884"/>
            <a:ext cx="425826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2973884"/>
            <a:ext cx="425826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30000">
                <a:srgbClr val="000000">
                  <a:alpha val="0"/>
                </a:srgbClr>
              </a:gs>
              <a:gs pos="100000">
                <a:srgbClr val="000000">
                  <a:alpha val="82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3285530"/>
            <a:ext cx="9144000" cy="18579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8000">
                <a:srgbClr val="000000">
                  <a:alpha val="0"/>
                </a:srgbClr>
              </a:gs>
              <a:gs pos="38000">
                <a:srgbClr val="C9A84C">
                  <a:alpha val="11000"/>
                </a:srgbClr>
              </a:gs>
              <a:gs pos="42000">
                <a:srgbClr val="C9A84C">
                  <a:alpha val="18000"/>
                </a:srgbClr>
              </a:gs>
              <a:gs pos="46000">
                <a:srgbClr val="C9A84C">
                  <a:alpha val="9000"/>
                </a:srgbClr>
              </a:gs>
              <a:gs pos="50000">
                <a:srgbClr val="E8C96A">
                  <a:alpha val="14000"/>
                </a:srgbClr>
              </a:gs>
              <a:gs pos="54000">
                <a:srgbClr val="C9A84C">
                  <a:alpha val="7000"/>
                </a:srgbClr>
              </a:gs>
              <a:gs pos="58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3571280"/>
            <a:ext cx="9144000" cy="15722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30000">
                <a:srgbClr val="8B7A4A">
                  <a:alpha val="6000"/>
                </a:srgbClr>
              </a:gs>
              <a:gs pos="35000">
                <a:srgbClr val="C9A84C">
                  <a:alpha val="12000"/>
                </a:srgbClr>
              </a:gs>
              <a:gs pos="40000">
                <a:srgbClr val="8B7A4A">
                  <a:alpha val="4000"/>
                </a:srgbClr>
              </a:gs>
              <a:gs pos="41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 rot="-72000">
            <a:off x="0" y="3990380"/>
            <a:ext cx="9144000" cy="101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C9A84C">
                  <a:alpha val="0"/>
                </a:srgbClr>
              </a:gs>
              <a:gs pos="20000">
                <a:srgbClr val="C9A84C">
                  <a:alpha val="60000"/>
                </a:srgbClr>
              </a:gs>
              <a:gs pos="50000">
                <a:srgbClr val="E8C96A">
                  <a:alpha val="90000"/>
                </a:srgbClr>
              </a:gs>
              <a:gs pos="80000">
                <a:srgbClr val="C9A84C">
                  <a:alpha val="60000"/>
                </a:srgbClr>
              </a:gs>
              <a:gs pos="95000">
                <a:srgbClr val="C9A84C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115121" y="1428750"/>
            <a:ext cx="2429835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0"/>
              </a:lnSpc>
              <a:buNone/>
            </a:pPr>
            <a:r>
              <a:rPr lang="en-US" sz="18000" kern="0" spc="-900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</a:t>
            </a:r>
            <a:endParaRPr lang="en-US" sz="18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9795" y="0"/>
            <a:ext cx="2715220" cy="5143500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0030" y="0"/>
            <a:ext cx="3714750" cy="51435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1530" y="4714280"/>
            <a:ext cx="2571750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1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5429250" y="0"/>
            <a:ext cx="371475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80808">
                  <a:alpha val="95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372070" y="571500"/>
            <a:ext cx="7590" cy="4000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50000"/>
                </a:srgbClr>
              </a:gs>
              <a:gs pos="50000">
                <a:srgbClr val="C9A84C">
                  <a:alpha val="70000"/>
                </a:srgbClr>
              </a:gs>
              <a:gs pos="8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511" y="787152"/>
            <a:ext cx="192409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kern="0" spc="247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PREMIUM FASHION HOUSE</a:t>
            </a:r>
            <a:endParaRPr lang="en-US" sz="650" dirty="0"/>
          </a:p>
        </p:txBody>
      </p:sp>
      <p:sp>
        <p:nvSpPr>
          <p:cNvPr id="15" name="Text 11"/>
          <p:cNvSpPr/>
          <p:nvPr/>
        </p:nvSpPr>
        <p:spPr>
          <a:xfrm>
            <a:off x="514350" y="824954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2434679" y="824954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514350" y="1044922"/>
            <a:ext cx="4343436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500" kern="0" spc="990" dirty="0">
                <a:gradFill rotWithShape="1">
                  <a:gsLst>
                    <a:gs pos="0">
                      <a:srgbClr val="8B7A4A"/>
                    </a:gs>
                    <a:gs pos="25000">
                      <a:srgbClr val="C9A84C"/>
                    </a:gs>
                    <a:gs pos="45000">
                      <a:srgbClr val="E8C96A"/>
                    </a:gs>
                    <a:gs pos="52000">
                      <a:srgbClr val="F5E09A"/>
                    </a:gs>
                    <a:gs pos="58000">
                      <a:srgbClr val="E8C96A"/>
                    </a:gs>
                    <a:gs pos="75000">
                      <a:srgbClr val="C9A84C"/>
                    </a:gs>
                    <a:gs pos="100000">
                      <a:srgbClr val="8B7A4A"/>
                    </a:gs>
                  </a:gsLst>
                  <a:lin ang="90000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</a:t>
            </a:r>
            <a:endParaRPr lang="en-US" sz="4500" dirty="0"/>
          </a:p>
        </p:txBody>
      </p:sp>
      <p:sp>
        <p:nvSpPr>
          <p:cNvPr id="18" name="Text 14"/>
          <p:cNvSpPr/>
          <p:nvPr/>
        </p:nvSpPr>
        <p:spPr>
          <a:xfrm>
            <a:off x="514350" y="2201763"/>
            <a:ext cx="4471184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spcBef>
                <a:spcPts val="110"/>
              </a:spcBef>
              <a:buNone/>
            </a:pPr>
            <a:r>
              <a:rPr lang="en-US" sz="4500" kern="0" spc="990" dirty="0">
                <a:gradFill rotWithShape="1">
                  <a:gsLst>
                    <a:gs pos="0">
                      <a:srgbClr val="8B7A4A"/>
                    </a:gs>
                    <a:gs pos="25000">
                      <a:srgbClr val="C9A84C"/>
                    </a:gs>
                    <a:gs pos="45000">
                      <a:srgbClr val="E8C96A"/>
                    </a:gs>
                    <a:gs pos="52000">
                      <a:srgbClr val="F5E09A"/>
                    </a:gs>
                    <a:gs pos="58000">
                      <a:srgbClr val="E8C96A"/>
                    </a:gs>
                    <a:gs pos="75000">
                      <a:srgbClr val="C9A84C"/>
                    </a:gs>
                    <a:gs pos="100000">
                      <a:srgbClr val="8B7A4A"/>
                    </a:gs>
                  </a:gsLst>
                  <a:lin ang="90000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LEGENDS</a:t>
            </a:r>
            <a:endParaRPr lang="en-US" sz="4500" dirty="0"/>
          </a:p>
        </p:txBody>
      </p:sp>
      <p:sp>
        <p:nvSpPr>
          <p:cNvPr id="19" name="Text 15"/>
          <p:cNvSpPr/>
          <p:nvPr/>
        </p:nvSpPr>
        <p:spPr>
          <a:xfrm>
            <a:off x="514350" y="3024634"/>
            <a:ext cx="425827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8B7A4A"/>
              </a:gs>
              <a:gs pos="25000">
                <a:srgbClr val="C9A84C"/>
              </a:gs>
              <a:gs pos="50000">
                <a:srgbClr val="E8C96A"/>
              </a:gs>
              <a:gs pos="75000">
                <a:srgbClr val="C9A84C"/>
              </a:gs>
              <a:gs pos="95000">
                <a:srgbClr val="8B7A4A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514350" y="3254425"/>
            <a:ext cx="468409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kern="0" spc="342" dirty="0">
                <a:solidFill>
                  <a:srgbClr val="F5EDD6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FULL BRAND CATALOG</a:t>
            </a:r>
            <a:endParaRPr lang="en-US" sz="107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4350" y="3760143"/>
            <a:ext cx="589508" cy="5895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04479" y="3743920"/>
            <a:ext cx="139023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204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ESTABLISHED 2026</a:t>
            </a:r>
            <a:endParaRPr lang="en-US" sz="680" dirty="0"/>
          </a:p>
        </p:txBody>
      </p:sp>
      <p:sp>
        <p:nvSpPr>
          <p:cNvPr id="23" name="Text 18"/>
          <p:cNvSpPr/>
          <p:nvPr/>
        </p:nvSpPr>
        <p:spPr>
          <a:xfrm>
            <a:off x="1304479" y="3930551"/>
            <a:ext cx="1289125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840" kern="0" spc="151" dirty="0">
                <a:solidFill>
                  <a:srgbClr val="F5EDD6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Excellence Earned,</a:t>
            </a:r>
            <a:br/>
            <a:r>
              <a:rPr lang="en-US" sz="840" kern="0" spc="151" dirty="0">
                <a:solidFill>
                  <a:srgbClr val="F5EDD6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Inherited.</a:t>
            </a:r>
            <a:endParaRPr lang="en-US" sz="840" dirty="0"/>
          </a:p>
        </p:txBody>
      </p:sp>
      <p:sp>
        <p:nvSpPr>
          <p:cNvPr id="24" name="Text 19"/>
          <p:cNvSpPr/>
          <p:nvPr/>
        </p:nvSpPr>
        <p:spPr>
          <a:xfrm>
            <a:off x="1304479" y="4358283"/>
            <a:ext cx="85725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200620"/>
            <a:ext cx="314920" cy="314920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99859" y="4627959"/>
            <a:ext cx="314920" cy="3149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4350" y="4775895"/>
            <a:ext cx="26470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04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  ·  LUXURY STREETWEAR</a:t>
            </a:r>
            <a:endParaRPr lang="en-US" sz="730" dirty="0"/>
          </a:p>
        </p:txBody>
      </p:sp>
      <p:sp>
        <p:nvSpPr>
          <p:cNvPr id="28" name="Text 21"/>
          <p:cNvSpPr/>
          <p:nvPr/>
        </p:nvSpPr>
        <p:spPr>
          <a:xfrm>
            <a:off x="7500863" y="4796879"/>
            <a:ext cx="112878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930"/>
              </a:lnSpc>
              <a:buNone/>
            </a:pPr>
            <a:r>
              <a:rPr lang="en-US" sz="620" kern="0" spc="198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620" dirty="0"/>
          </a:p>
        </p:txBody>
      </p:sp>
      <p:sp>
        <p:nvSpPr>
          <p:cNvPr id="29" name="Text 22"/>
          <p:cNvSpPr/>
          <p:nvPr/>
        </p:nvSpPr>
        <p:spPr>
          <a:xfrm>
            <a:off x="7448848" y="312986"/>
            <a:ext cx="200620" cy="7590"/>
          </a:xfrm>
          <a:prstGeom prst="rect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3"/>
          <p:cNvSpPr/>
          <p:nvPr/>
        </p:nvSpPr>
        <p:spPr>
          <a:xfrm>
            <a:off x="7706618" y="257770"/>
            <a:ext cx="101533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S/S · F/W 2026</a:t>
            </a:r>
            <a:endParaRPr lang="en-US" sz="6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100000">
                <a:srgbClr val="C9A84C">
                  <a:alpha val="3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alphaModFix amt="1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0859" y="1741215"/>
            <a:ext cx="1661071" cy="16610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86030" y="285750"/>
            <a:ext cx="7590" cy="45720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0000"/>
                </a:srgbClr>
              </a:gs>
              <a:gs pos="70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372070" y="328910"/>
            <a:ext cx="729103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620" dirty="0"/>
          </a:p>
        </p:txBody>
      </p:sp>
      <p:sp>
        <p:nvSpPr>
          <p:cNvPr id="6" name="Text 3"/>
          <p:cNvSpPr/>
          <p:nvPr/>
        </p:nvSpPr>
        <p:spPr>
          <a:xfrm>
            <a:off x="372070" y="504081"/>
            <a:ext cx="69596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80"/>
              </a:lnSpc>
              <a:spcAft>
                <a:spcPts val="560"/>
              </a:spcAft>
              <a:buNone/>
            </a:pPr>
            <a:r>
              <a:rPr lang="en-US" sz="2480" kern="0" spc="44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CATALOG CONTENTS</a:t>
            </a:r>
            <a:endParaRPr lang="en-US" sz="2480" dirty="0"/>
          </a:p>
        </p:txBody>
      </p:sp>
      <p:sp>
        <p:nvSpPr>
          <p:cNvPr id="7" name="Text 4"/>
          <p:cNvSpPr/>
          <p:nvPr/>
        </p:nvSpPr>
        <p:spPr>
          <a:xfrm>
            <a:off x="372070" y="889992"/>
            <a:ext cx="185797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676650" y="1098203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01241" y="152400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sp>
        <p:nvSpPr>
          <p:cNvPr id="10" name="Text 7"/>
          <p:cNvSpPr/>
          <p:nvPr/>
        </p:nvSpPr>
        <p:spPr>
          <a:xfrm>
            <a:off x="659011" y="1442145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863" y="1496997"/>
            <a:ext cx="132588" cy="1325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1762" y="1515666"/>
            <a:ext cx="97162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STORY</a:t>
            </a:r>
            <a:endParaRPr lang="en-US" sz="840" dirty="0"/>
          </a:p>
        </p:txBody>
      </p:sp>
      <p:sp>
        <p:nvSpPr>
          <p:cNvPr id="13" name="Text 9"/>
          <p:cNvSpPr/>
          <p:nvPr/>
        </p:nvSpPr>
        <p:spPr>
          <a:xfrm>
            <a:off x="1970633" y="155971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3686175" y="202852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3843635" y="152400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sp>
        <p:nvSpPr>
          <p:cNvPr id="16" name="Text 12"/>
          <p:cNvSpPr/>
          <p:nvPr/>
        </p:nvSpPr>
        <p:spPr>
          <a:xfrm>
            <a:off x="4101405" y="1442145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56258" y="1496997"/>
            <a:ext cx="132588" cy="1325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44157" y="1515666"/>
            <a:ext cx="152054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 COLLECTION</a:t>
            </a:r>
            <a:endParaRPr lang="en-US" sz="840" dirty="0"/>
          </a:p>
        </p:txBody>
      </p:sp>
      <p:sp>
        <p:nvSpPr>
          <p:cNvPr id="19" name="Text 14"/>
          <p:cNvSpPr/>
          <p:nvPr/>
        </p:nvSpPr>
        <p:spPr>
          <a:xfrm>
            <a:off x="5912048" y="155971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3676650" y="2038052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401241" y="246385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17"/>
          <p:cNvSpPr/>
          <p:nvPr/>
        </p:nvSpPr>
        <p:spPr>
          <a:xfrm>
            <a:off x="659011" y="238199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863" y="2436846"/>
            <a:ext cx="132588" cy="132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1762" y="2455515"/>
            <a:ext cx="8598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TRACKSUITS</a:t>
            </a:r>
            <a:endParaRPr lang="en-US" sz="840" dirty="0"/>
          </a:p>
        </p:txBody>
      </p:sp>
      <p:sp>
        <p:nvSpPr>
          <p:cNvPr id="25" name="Text 19"/>
          <p:cNvSpPr/>
          <p:nvPr/>
        </p:nvSpPr>
        <p:spPr>
          <a:xfrm>
            <a:off x="1868984" y="249956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3686175" y="296837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3843635" y="246385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101405" y="238199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56258" y="2436846"/>
            <a:ext cx="132588" cy="1325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444157" y="2455515"/>
            <a:ext cx="77124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FOOTWEAR</a:t>
            </a:r>
            <a:endParaRPr lang="en-US" sz="840" dirty="0"/>
          </a:p>
        </p:txBody>
      </p:sp>
      <p:sp>
        <p:nvSpPr>
          <p:cNvPr id="31" name="Text 24"/>
          <p:cNvSpPr/>
          <p:nvPr/>
        </p:nvSpPr>
        <p:spPr>
          <a:xfrm>
            <a:off x="5230862" y="249956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3676650" y="2977902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01241" y="3403699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620" dirty="0"/>
          </a:p>
        </p:txBody>
      </p:sp>
      <p:sp>
        <p:nvSpPr>
          <p:cNvPr id="34" name="Text 27"/>
          <p:cNvSpPr/>
          <p:nvPr/>
        </p:nvSpPr>
        <p:spPr>
          <a:xfrm>
            <a:off x="659011" y="332184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3863" y="3376696"/>
            <a:ext cx="132588" cy="13258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001762" y="3395365"/>
            <a:ext cx="975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ACCESSORIES</a:t>
            </a:r>
            <a:endParaRPr lang="en-US" sz="840" dirty="0"/>
          </a:p>
        </p:txBody>
      </p:sp>
      <p:sp>
        <p:nvSpPr>
          <p:cNvPr id="37" name="Text 29"/>
          <p:cNvSpPr/>
          <p:nvPr/>
        </p:nvSpPr>
        <p:spPr>
          <a:xfrm>
            <a:off x="1974503" y="343941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3686175" y="390822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3843635" y="3403699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620" dirty="0"/>
          </a:p>
        </p:txBody>
      </p:sp>
      <p:sp>
        <p:nvSpPr>
          <p:cNvPr id="40" name="Text 32"/>
          <p:cNvSpPr/>
          <p:nvPr/>
        </p:nvSpPr>
        <p:spPr>
          <a:xfrm>
            <a:off x="4101405" y="332184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56258" y="3376696"/>
            <a:ext cx="132588" cy="13258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4444157" y="3395365"/>
            <a:ext cx="134619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LIFESTYLE VISUALS</a:t>
            </a:r>
            <a:endParaRPr lang="en-US" sz="840" dirty="0"/>
          </a:p>
        </p:txBody>
      </p:sp>
      <p:sp>
        <p:nvSpPr>
          <p:cNvPr id="43" name="Text 34"/>
          <p:cNvSpPr/>
          <p:nvPr/>
        </p:nvSpPr>
        <p:spPr>
          <a:xfrm>
            <a:off x="5753546" y="343941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5"/>
          <p:cNvSpPr/>
          <p:nvPr/>
        </p:nvSpPr>
        <p:spPr>
          <a:xfrm>
            <a:off x="3676650" y="3917752"/>
            <a:ext cx="9525" cy="939998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6"/>
          <p:cNvSpPr/>
          <p:nvPr/>
        </p:nvSpPr>
        <p:spPr>
          <a:xfrm>
            <a:off x="401241" y="4348311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620" dirty="0"/>
          </a:p>
        </p:txBody>
      </p:sp>
      <p:sp>
        <p:nvSpPr>
          <p:cNvPr id="46" name="Text 37"/>
          <p:cNvSpPr/>
          <p:nvPr/>
        </p:nvSpPr>
        <p:spPr>
          <a:xfrm>
            <a:off x="659011" y="4266456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3863" y="4321308"/>
            <a:ext cx="132588" cy="13258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1001762" y="4340126"/>
            <a:ext cx="126597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SPECS</a:t>
            </a:r>
            <a:endParaRPr lang="en-US" sz="840" dirty="0"/>
          </a:p>
        </p:txBody>
      </p:sp>
      <p:sp>
        <p:nvSpPr>
          <p:cNvPr id="49" name="Text 39"/>
          <p:cNvSpPr/>
          <p:nvPr/>
        </p:nvSpPr>
        <p:spPr>
          <a:xfrm>
            <a:off x="2238226" y="438417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0"/>
          <p:cNvSpPr/>
          <p:nvPr/>
        </p:nvSpPr>
        <p:spPr>
          <a:xfrm>
            <a:off x="3843635" y="4348311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620" dirty="0"/>
          </a:p>
        </p:txBody>
      </p:sp>
      <p:sp>
        <p:nvSpPr>
          <p:cNvPr id="51" name="Text 41"/>
          <p:cNvSpPr/>
          <p:nvPr/>
        </p:nvSpPr>
        <p:spPr>
          <a:xfrm>
            <a:off x="4101405" y="4266456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56258" y="4321308"/>
            <a:ext cx="132588" cy="132588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4444157" y="4340126"/>
            <a:ext cx="204327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IDENTITY &amp; ORDERING</a:t>
            </a:r>
            <a:endParaRPr lang="en-US" sz="840" dirty="0"/>
          </a:p>
        </p:txBody>
      </p:sp>
      <p:sp>
        <p:nvSpPr>
          <p:cNvPr id="54" name="Text 43"/>
          <p:cNvSpPr/>
          <p:nvPr/>
        </p:nvSpPr>
        <p:spPr>
          <a:xfrm>
            <a:off x="6387257" y="438417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4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60000">
                <a:srgbClr val="8B7A4A"/>
              </a:gs>
              <a:gs pos="100000">
                <a:srgbClr val="C9A84C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5"/>
          <p:cNvSpPr/>
          <p:nvPr/>
        </p:nvSpPr>
        <p:spPr>
          <a:xfrm>
            <a:off x="35421" y="4885730"/>
            <a:ext cx="9108579" cy="9525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6"/>
          <p:cNvSpPr/>
          <p:nvPr/>
        </p:nvSpPr>
        <p:spPr>
          <a:xfrm>
            <a:off x="407491" y="4965948"/>
            <a:ext cx="123650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</a:t>
            </a:r>
            <a:endParaRPr lang="en-US" sz="560" dirty="0"/>
          </a:p>
        </p:txBody>
      </p:sp>
      <p:sp>
        <p:nvSpPr>
          <p:cNvPr id="58" name="Text 47"/>
          <p:cNvSpPr/>
          <p:nvPr/>
        </p:nvSpPr>
        <p:spPr>
          <a:xfrm>
            <a:off x="1617911" y="5008513"/>
            <a:ext cx="21580" cy="21580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48"/>
          <p:cNvSpPr/>
          <p:nvPr/>
        </p:nvSpPr>
        <p:spPr>
          <a:xfrm>
            <a:off x="1725811" y="4965948"/>
            <a:ext cx="160174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560" dirty="0"/>
          </a:p>
        </p:txBody>
      </p:sp>
      <p:sp>
        <p:nvSpPr>
          <p:cNvPr id="60" name="Text 49"/>
          <p:cNvSpPr/>
          <p:nvPr/>
        </p:nvSpPr>
        <p:spPr>
          <a:xfrm>
            <a:off x="3268266" y="5008513"/>
            <a:ext cx="21580" cy="21580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0"/>
          <p:cNvSpPr/>
          <p:nvPr/>
        </p:nvSpPr>
        <p:spPr>
          <a:xfrm>
            <a:off x="3376166" y="4965948"/>
            <a:ext cx="99945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C9A84C">
                  <a:alpha val="2000"/>
                </a:srgbClr>
              </a:gs>
              <a:gs pos="100000">
                <a:srgbClr val="C9A84C">
                  <a:alpha val="200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2500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75000">
                <a:srgbClr val="C9A84C">
                  <a:alpha val="1000"/>
                </a:srgbClr>
              </a:gs>
              <a:gs pos="100000">
                <a:srgbClr val="C9A84C">
                  <a:alpha val="1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40000">
                <a:srgbClr val="000000">
                  <a:alpha val="0"/>
                </a:srgbClr>
              </a:gs>
              <a:gs pos="100000">
                <a:srgbClr val="000000">
                  <a:alpha val="65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74068" y="1071265"/>
            <a:ext cx="6505657" cy="300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30"/>
              </a:lnSpc>
              <a:buNone/>
            </a:pPr>
            <a:r>
              <a:rPr lang="en-US" sz="23630" b="1" kern="0" spc="-945" dirty="0">
                <a:solidFill>
                  <a:srgbClr val="C9A84C">
                    <a:alpha val="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2363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7770" y="200620"/>
            <a:ext cx="428625" cy="42862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57605" y="200620"/>
            <a:ext cx="428625" cy="4286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933081" y="1543645"/>
            <a:ext cx="140562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 BRAND STORY  —</a:t>
            </a:r>
            <a:endParaRPr lang="en-US" sz="62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0181" y="1919436"/>
            <a:ext cx="279053" cy="23619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960504" y="1890266"/>
            <a:ext cx="5222992" cy="713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75"/>
              </a:lnSpc>
              <a:buNone/>
            </a:pPr>
            <a:r>
              <a:rPr lang="en-US" sz="2140" i="1" kern="0" spc="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DIDN'T WAIT FOR PERMISSION.</a:t>
            </a:r>
            <a:br/>
            <a:r>
              <a:rPr lang="en-US" sz="2140" i="1" kern="0" spc="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BUILT THE EMPIRE OURSELVES.</a:t>
            </a:r>
            <a:endParaRPr lang="en-US" sz="2140" dirty="0"/>
          </a:p>
        </p:txBody>
      </p:sp>
      <p:sp>
        <p:nvSpPr>
          <p:cNvPr id="11" name="Text 6"/>
          <p:cNvSpPr/>
          <p:nvPr/>
        </p:nvSpPr>
        <p:spPr>
          <a:xfrm>
            <a:off x="3429000" y="2770138"/>
            <a:ext cx="2286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803083" y="2978348"/>
            <a:ext cx="5537835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was born from the grind — built by those who refused to accept limitations.</a:t>
            </a:r>
            <a:endParaRPr lang="en-US" sz="960" dirty="0"/>
          </a:p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From the streets of independence to the global stage, SML represents excellence earned, not inherited.</a:t>
            </a:r>
            <a:endParaRPr lang="en-US" sz="960" dirty="0"/>
          </a:p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stitch, every silhouette, every drop is a declaration of self-sovereignty.</a:t>
            </a:r>
            <a:endParaRPr lang="en-US" sz="96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14766" y="3320504"/>
            <a:ext cx="279053" cy="2361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785815" y="4257229"/>
            <a:ext cx="157222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27265" y="4335810"/>
            <a:ext cx="289471" cy="28947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785815" y="4696271"/>
            <a:ext cx="157222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0"/>
          <p:cNvSpPr/>
          <p:nvPr/>
        </p:nvSpPr>
        <p:spPr>
          <a:xfrm>
            <a:off x="3727475" y="4788694"/>
            <a:ext cx="185795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5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  ·  SELF MADE LEGENDS</a:t>
            </a:r>
            <a:endParaRPr lang="en-US" sz="5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197054" y="1928515"/>
            <a:ext cx="2688930" cy="1286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0"/>
              </a:lnSpc>
              <a:buNone/>
            </a:pPr>
            <a:r>
              <a:rPr lang="en-US" sz="10130" b="1" kern="0" spc="-405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0130" dirty="0"/>
          </a:p>
        </p:txBody>
      </p:sp>
      <p:sp>
        <p:nvSpPr>
          <p:cNvPr id="5" name="Text 3"/>
          <p:cNvSpPr/>
          <p:nvPr/>
        </p:nvSpPr>
        <p:spPr>
          <a:xfrm>
            <a:off x="29170" y="4857750"/>
            <a:ext cx="9525" cy="28575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4475" y="4857750"/>
            <a:ext cx="9525" cy="28575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9575" y="1135261"/>
            <a:ext cx="2695280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38202" y="1135261"/>
            <a:ext cx="2695423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66979" y="1135261"/>
            <a:ext cx="2695423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050" y="257770"/>
            <a:ext cx="4293796" cy="206871"/>
          </a:xfrm>
          <a:prstGeom prst="roundRect">
            <a:avLst>
              <a:gd name="adj" fmla="val 6753"/>
            </a:avLst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210760" tIns="29210" rIns="100330" bIns="29210" rtlCol="0" anchor="ctr"/>
          <a:lstStyle/>
          <a:p>
            <a:pPr marL="0" indent="0" algn="l">
              <a:buNone/>
            </a:pPr>
            <a:r>
              <a:rPr lang="en-US" sz="680" kern="0" spc="20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S/S &amp; F/W 2026</a:t>
            </a:r>
            <a:endParaRPr lang="en-US" sz="68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231" y="294912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00050" y="521791"/>
            <a:ext cx="4504276" cy="314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78"/>
              </a:lnSpc>
              <a:buNone/>
            </a:pPr>
            <a:r>
              <a:rPr lang="en-US" sz="2360" kern="0" spc="37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 COLLECTION</a:t>
            </a:r>
            <a:endParaRPr lang="en-US" sz="2360" dirty="0"/>
          </a:p>
        </p:txBody>
      </p:sp>
      <p:sp>
        <p:nvSpPr>
          <p:cNvPr id="13" name="Text 10"/>
          <p:cNvSpPr/>
          <p:nvPr/>
        </p:nvSpPr>
        <p:spPr>
          <a:xfrm>
            <a:off x="400050" y="962620"/>
            <a:ext cx="2727424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213795" y="907405"/>
            <a:ext cx="153544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CATEGORIES 2026</a:t>
            </a:r>
            <a:endParaRPr lang="en-US" sz="62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4755" y="257770"/>
            <a:ext cx="257175" cy="2571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0050" y="1125736"/>
            <a:ext cx="2714327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409575" y="1135261"/>
            <a:ext cx="2695277" cy="1714500"/>
          </a:xfrm>
          <a:prstGeom prst="rect">
            <a:avLst/>
          </a:prstGeom>
          <a:solidFill>
            <a:srgbClr val="0C0C0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09575" y="1135261"/>
            <a:ext cx="2695277" cy="1714500"/>
          </a:xfrm>
          <a:prstGeom prst="rect">
            <a:avLst/>
          </a:prstGeom>
          <a:gradFill rotWithShape="1">
            <a:gsLst>
              <a:gs pos="0">
                <a:srgbClr val="080808">
                  <a:alpha val="10000"/>
                </a:srgbClr>
              </a:gs>
              <a:gs pos="100000">
                <a:srgbClr val="080808">
                  <a:alpha val="6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09885" y="1235571"/>
            <a:ext cx="930866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 / HOODIES</a:t>
            </a:r>
            <a:endParaRPr lang="en-US" sz="620" dirty="0"/>
          </a:p>
        </p:txBody>
      </p:sp>
      <p:sp>
        <p:nvSpPr>
          <p:cNvPr id="20" name="Text 16"/>
          <p:cNvSpPr/>
          <p:nvPr/>
        </p:nvSpPr>
        <p:spPr>
          <a:xfrm>
            <a:off x="409575" y="2835921"/>
            <a:ext cx="2695277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553045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9825" y="2954470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53045" y="3120777"/>
            <a:ext cx="26491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SIGNATURE HOODIES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553045" y="3349377"/>
            <a:ext cx="2456503" cy="4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Heavyweight fleece construction with oversized silhouette. Embroidered SML chest logo &amp; premium gold zipper hardware throughout.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553045" y="3866555"/>
            <a:ext cx="84817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FLEECE</a:t>
            </a:r>
            <a:endParaRPr lang="en-US" sz="560" dirty="0"/>
          </a:p>
        </p:txBody>
      </p:sp>
      <p:sp>
        <p:nvSpPr>
          <p:cNvPr id="26" name="Text 21"/>
          <p:cNvSpPr/>
          <p:nvPr/>
        </p:nvSpPr>
        <p:spPr>
          <a:xfrm>
            <a:off x="1436638" y="3866555"/>
            <a:ext cx="80858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FIT</a:t>
            </a:r>
            <a:endParaRPr lang="en-US" sz="560" dirty="0"/>
          </a:p>
        </p:txBody>
      </p:sp>
      <p:sp>
        <p:nvSpPr>
          <p:cNvPr id="27" name="Text 22"/>
          <p:cNvSpPr/>
          <p:nvPr/>
        </p:nvSpPr>
        <p:spPr>
          <a:xfrm>
            <a:off x="2280642" y="3866555"/>
            <a:ext cx="54724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HW</a:t>
            </a:r>
            <a:endParaRPr lang="en-US" sz="560" dirty="0"/>
          </a:p>
        </p:txBody>
      </p:sp>
      <p:sp>
        <p:nvSpPr>
          <p:cNvPr id="28" name="Text 23"/>
          <p:cNvSpPr/>
          <p:nvPr/>
        </p:nvSpPr>
        <p:spPr>
          <a:xfrm>
            <a:off x="3228677" y="1125736"/>
            <a:ext cx="2714476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3238202" y="1135261"/>
            <a:ext cx="2695426" cy="1714500"/>
          </a:xfrm>
          <a:prstGeom prst="rect">
            <a:avLst/>
          </a:prstGeom>
          <a:gradFill rotWithShape="1">
            <a:gsLst>
              <a:gs pos="0">
                <a:srgbClr val="111111"/>
              </a:gs>
              <a:gs pos="100000">
                <a:srgbClr val="0A0A0A"/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060" y="1456730"/>
            <a:ext cx="1071563" cy="107156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338513" y="1235571"/>
            <a:ext cx="1256943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 / GRAPHIC TEES</a:t>
            </a:r>
            <a:endParaRPr lang="en-US" sz="620" dirty="0"/>
          </a:p>
        </p:txBody>
      </p:sp>
      <p:sp>
        <p:nvSpPr>
          <p:cNvPr id="32" name="Text 26"/>
          <p:cNvSpPr/>
          <p:nvPr/>
        </p:nvSpPr>
        <p:spPr>
          <a:xfrm>
            <a:off x="3238202" y="2835921"/>
            <a:ext cx="2695423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381673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58452" y="2954470"/>
            <a:ext cx="132588" cy="1325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381673" y="3120777"/>
            <a:ext cx="26493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GRAPHIC TEES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3381673" y="3349377"/>
            <a:ext cx="2456655" cy="3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combed cotton with chest &amp; back placements. Legend-Series limited run artwork — exclusive drops only.</a:t>
            </a:r>
            <a:endParaRPr lang="en-US" sz="730" dirty="0"/>
          </a:p>
        </p:txBody>
      </p:sp>
      <p:sp>
        <p:nvSpPr>
          <p:cNvPr id="37" name="Text 30"/>
          <p:cNvSpPr/>
          <p:nvPr/>
        </p:nvSpPr>
        <p:spPr>
          <a:xfrm>
            <a:off x="3381673" y="3722936"/>
            <a:ext cx="870347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COTTON</a:t>
            </a:r>
            <a:endParaRPr lang="en-US" sz="560" dirty="0"/>
          </a:p>
        </p:txBody>
      </p:sp>
      <p:sp>
        <p:nvSpPr>
          <p:cNvPr id="38" name="Text 31"/>
          <p:cNvSpPr/>
          <p:nvPr/>
        </p:nvSpPr>
        <p:spPr>
          <a:xfrm>
            <a:off x="4287441" y="3722936"/>
            <a:ext cx="704404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RUN</a:t>
            </a:r>
            <a:endParaRPr lang="en-US" sz="560" dirty="0"/>
          </a:p>
        </p:txBody>
      </p:sp>
      <p:sp>
        <p:nvSpPr>
          <p:cNvPr id="39" name="Text 32"/>
          <p:cNvSpPr/>
          <p:nvPr/>
        </p:nvSpPr>
        <p:spPr>
          <a:xfrm>
            <a:off x="3381673" y="3911798"/>
            <a:ext cx="84415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SERIES</a:t>
            </a:r>
            <a:endParaRPr lang="en-US" sz="560" dirty="0"/>
          </a:p>
        </p:txBody>
      </p:sp>
      <p:sp>
        <p:nvSpPr>
          <p:cNvPr id="40" name="Text 33"/>
          <p:cNvSpPr/>
          <p:nvPr/>
        </p:nvSpPr>
        <p:spPr>
          <a:xfrm>
            <a:off x="6057454" y="1125736"/>
            <a:ext cx="2714476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6066979" y="1135261"/>
            <a:ext cx="2695426" cy="1714500"/>
          </a:xfrm>
          <a:prstGeom prst="rect">
            <a:avLst/>
          </a:prstGeom>
          <a:solidFill>
            <a:srgbClr val="0C0C0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6066979" y="1135261"/>
            <a:ext cx="2695426" cy="1714500"/>
          </a:xfrm>
          <a:prstGeom prst="rect">
            <a:avLst/>
          </a:prstGeom>
          <a:gradFill rotWithShape="1">
            <a:gsLst>
              <a:gs pos="0">
                <a:srgbClr val="080808">
                  <a:alpha val="10000"/>
                </a:srgbClr>
              </a:gs>
              <a:gs pos="100000">
                <a:srgbClr val="080808">
                  <a:alpha val="6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6167289" y="1235571"/>
            <a:ext cx="1596378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 / VARSITY &amp; BOMBERS</a:t>
            </a:r>
            <a:endParaRPr lang="en-US" sz="620" dirty="0"/>
          </a:p>
        </p:txBody>
      </p:sp>
      <p:sp>
        <p:nvSpPr>
          <p:cNvPr id="44" name="Text 37"/>
          <p:cNvSpPr/>
          <p:nvPr/>
        </p:nvSpPr>
        <p:spPr>
          <a:xfrm>
            <a:off x="6066979" y="2835921"/>
            <a:ext cx="2695423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6210449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87229" y="2954470"/>
            <a:ext cx="132588" cy="132588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6210449" y="3120777"/>
            <a:ext cx="26493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VARSITY &amp; BOMBERS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6210449" y="3349377"/>
            <a:ext cx="2456655" cy="4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 &amp; wool blend with custom chenille SML patches. Contrast gold stitching on numbered editions — each a collector piece.</a:t>
            </a:r>
            <a:endParaRPr lang="en-US" sz="730" dirty="0"/>
          </a:p>
        </p:txBody>
      </p:sp>
      <p:sp>
        <p:nvSpPr>
          <p:cNvPr id="49" name="Text 41"/>
          <p:cNvSpPr/>
          <p:nvPr/>
        </p:nvSpPr>
        <p:spPr>
          <a:xfrm>
            <a:off x="6210449" y="3866555"/>
            <a:ext cx="68059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SATIN/WOOL</a:t>
            </a:r>
            <a:endParaRPr lang="en-US" sz="560" dirty="0"/>
          </a:p>
        </p:txBody>
      </p:sp>
      <p:sp>
        <p:nvSpPr>
          <p:cNvPr id="50" name="Text 42"/>
          <p:cNvSpPr/>
          <p:nvPr/>
        </p:nvSpPr>
        <p:spPr>
          <a:xfrm>
            <a:off x="6926461" y="3866555"/>
            <a:ext cx="87972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CHENILLE PATCH</a:t>
            </a:r>
            <a:endParaRPr lang="en-US" sz="560" dirty="0"/>
          </a:p>
        </p:txBody>
      </p:sp>
      <p:sp>
        <p:nvSpPr>
          <p:cNvPr id="51" name="Text 43"/>
          <p:cNvSpPr/>
          <p:nvPr/>
        </p:nvSpPr>
        <p:spPr>
          <a:xfrm>
            <a:off x="7841605" y="3866555"/>
            <a:ext cx="625078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</a:t>
            </a:r>
            <a:endParaRPr lang="en-US" sz="560" dirty="0"/>
          </a:p>
        </p:txBody>
      </p:sp>
      <p:sp>
        <p:nvSpPr>
          <p:cNvPr id="52" name="Text 44"/>
          <p:cNvSpPr/>
          <p:nvPr/>
        </p:nvSpPr>
        <p:spPr>
          <a:xfrm>
            <a:off x="400050" y="4694039"/>
            <a:ext cx="8371880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400050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6"/>
          <p:cNvSpPr/>
          <p:nvPr/>
        </p:nvSpPr>
        <p:spPr>
          <a:xfrm>
            <a:off x="500360" y="4814292"/>
            <a:ext cx="120065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CATEGORIES</a:t>
            </a:r>
            <a:endParaRPr lang="en-US" sz="620" dirty="0"/>
          </a:p>
        </p:txBody>
      </p:sp>
      <p:sp>
        <p:nvSpPr>
          <p:cNvPr id="55" name="Text 47"/>
          <p:cNvSpPr/>
          <p:nvPr/>
        </p:nvSpPr>
        <p:spPr>
          <a:xfrm>
            <a:off x="1735336" y="4823073"/>
            <a:ext cx="7590" cy="100310"/>
          </a:xfrm>
          <a:prstGeom prst="rect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1886396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1986707" y="4814292"/>
            <a:ext cx="101582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2026 RANGE</a:t>
            </a:r>
            <a:endParaRPr lang="en-US" sz="620" dirty="0"/>
          </a:p>
        </p:txBody>
      </p:sp>
      <p:sp>
        <p:nvSpPr>
          <p:cNvPr id="58" name="Text 50"/>
          <p:cNvSpPr/>
          <p:nvPr/>
        </p:nvSpPr>
        <p:spPr>
          <a:xfrm>
            <a:off x="3053655" y="4823073"/>
            <a:ext cx="7590" cy="100310"/>
          </a:xfrm>
          <a:prstGeom prst="rect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1"/>
          <p:cNvSpPr/>
          <p:nvPr/>
        </p:nvSpPr>
        <p:spPr>
          <a:xfrm>
            <a:off x="3204716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3305026" y="4814292"/>
            <a:ext cx="118477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 — 4XL AVAILABLE</a:t>
            </a:r>
            <a:endParaRPr lang="en-US" sz="620" dirty="0"/>
          </a:p>
        </p:txBody>
      </p:sp>
      <p:sp>
        <p:nvSpPr>
          <p:cNvPr id="61" name="Text 53"/>
          <p:cNvSpPr/>
          <p:nvPr/>
        </p:nvSpPr>
        <p:spPr>
          <a:xfrm>
            <a:off x="6601420" y="4803874"/>
            <a:ext cx="220371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VIEW FULL APPAREL LOOKBOOK</a:t>
            </a:r>
            <a:endParaRPr lang="en-US" sz="730" dirty="0"/>
          </a:p>
        </p:txBody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57564" y="4807083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1760"/>
            <a:ext cx="9144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5000"/>
                </a:srgbClr>
              </a:gs>
              <a:gs pos="8000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79350"/>
            <a:ext cx="4572000" cy="4641949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279350"/>
            <a:ext cx="29170" cy="464194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50000"/>
                </a:srgbClr>
              </a:gs>
              <a:gs pos="7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39852" y="4363641"/>
            <a:ext cx="1353763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4950" b="1" kern="0" spc="-99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950" dirty="0"/>
          </a:p>
        </p:txBody>
      </p:sp>
      <p:sp>
        <p:nvSpPr>
          <p:cNvPr id="6" name="Text 4"/>
          <p:cNvSpPr/>
          <p:nvPr/>
        </p:nvSpPr>
        <p:spPr>
          <a:xfrm>
            <a:off x="0" y="279350"/>
            <a:ext cx="2103090" cy="4641949"/>
          </a:xfrm>
          <a:prstGeom prst="rect">
            <a:avLst/>
          </a:prstGeom>
          <a:gradFill rotWithShape="1">
            <a:gsLst>
              <a:gs pos="40000">
                <a:srgbClr val="080808">
                  <a:alpha val="0"/>
                </a:srgbClr>
              </a:gs>
              <a:gs pos="100000">
                <a:srgbClr val="080808">
                  <a:alpha val="55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279350"/>
            <a:ext cx="2103090" cy="4641949"/>
          </a:xfrm>
          <a:prstGeom prst="rect">
            <a:avLst/>
          </a:prstGeom>
          <a:gradFill rotWithShape="1">
            <a:gsLst>
              <a:gs pos="0">
                <a:srgbClr val="080808">
                  <a:alpha val="70000"/>
                </a:srgbClr>
              </a:gs>
              <a:gs pos="4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093565" y="4692700"/>
            <a:ext cx="9525" cy="22860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6612" y="4630043"/>
            <a:ext cx="829717" cy="168009"/>
          </a:xfrm>
          <a:prstGeom prst="rect">
            <a:avLst/>
          </a:prstGeom>
          <a:solidFill>
            <a:srgbClr val="000000">
              <a:alpha val="75000"/>
            </a:srgbClr>
          </a:solidFill>
          <a:ln w="9525">
            <a:solidFill>
              <a:srgbClr val="C9A84C">
                <a:alpha val="45000"/>
              </a:srgbClr>
            </a:solidFill>
          </a:ln>
        </p:spPr>
        <p:txBody>
          <a:bodyPr wrap="none" lIns="86360" tIns="29210" rIns="86360" bIns="29210" rtlCol="0" anchor="t"/>
          <a:lstStyle/>
          <a:p>
            <a:pPr marL="0" indent="0" algn="ctr">
              <a:buNone/>
            </a:pPr>
            <a:r>
              <a:rPr lang="en-US" sz="450" kern="0" spc="13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LAY VIEW</a:t>
            </a:r>
            <a:endParaRPr lang="en-US" sz="450" dirty="0"/>
          </a:p>
        </p:txBody>
      </p:sp>
      <p:sp>
        <p:nvSpPr>
          <p:cNvPr id="10" name="Text 8"/>
          <p:cNvSpPr/>
          <p:nvPr/>
        </p:nvSpPr>
        <p:spPr>
          <a:xfrm>
            <a:off x="2274540" y="479971"/>
            <a:ext cx="2138776" cy="144066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lIns="149543" tIns="21590" rIns="71120" bIns="21590" rtlCol="0" anchor="ctr"/>
          <a:lstStyle/>
          <a:p>
            <a:pPr marL="0" indent="0" algn="l">
              <a:buNone/>
            </a:pPr>
            <a:r>
              <a:rPr lang="en-US" sz="530" b="1" kern="0" spc="117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53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0669" y="485710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74540" y="695027"/>
            <a:ext cx="213877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SIGNATURE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HEAVYWEIGHT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HOODIE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2274540" y="1138238"/>
            <a:ext cx="230652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FLEECE · ALL-BLACK EDITION</a:t>
            </a:r>
            <a:endParaRPr lang="en-US" sz="620" dirty="0"/>
          </a:p>
        </p:txBody>
      </p:sp>
      <p:sp>
        <p:nvSpPr>
          <p:cNvPr id="14" name="Text 11"/>
          <p:cNvSpPr/>
          <p:nvPr/>
        </p:nvSpPr>
        <p:spPr>
          <a:xfrm>
            <a:off x="2274540" y="1356568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2368748" y="1480989"/>
            <a:ext cx="1242239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French Terry Fleece</a:t>
            </a:r>
            <a:endParaRPr lang="en-US" sz="7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26775" y="1454804"/>
            <a:ext cx="132588" cy="1325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68748" y="1648420"/>
            <a:ext cx="135290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ring-spun combed cotton</a:t>
            </a:r>
            <a:endParaRPr lang="en-US" sz="7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26775" y="1622235"/>
            <a:ext cx="132588" cy="1325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368748" y="1815852"/>
            <a:ext cx="945431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Brushed interior lining</a:t>
            </a:r>
            <a:endParaRPr lang="en-US" sz="7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26775" y="1789667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368748" y="1983284"/>
            <a:ext cx="949032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Ribbed cuffs and hem</a:t>
            </a:r>
            <a:endParaRPr lang="en-US" sz="7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26775" y="1957099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2368748" y="2150715"/>
            <a:ext cx="1689824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Kangaroo pocket — hidden gold zipper</a:t>
            </a:r>
            <a:endParaRPr lang="en-US" sz="7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26775" y="2124530"/>
            <a:ext cx="132588" cy="1325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2368748" y="2318147"/>
            <a:ext cx="1273016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arc embroidery on chest</a:t>
            </a:r>
            <a:endParaRPr lang="en-US" sz="7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26775" y="2291962"/>
            <a:ext cx="132588" cy="1325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368748" y="2485579"/>
            <a:ext cx="87847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Woven label at neck</a:t>
            </a:r>
            <a:endParaRPr lang="en-US" sz="7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26775" y="2459394"/>
            <a:ext cx="132588" cy="13258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2368748" y="2653010"/>
            <a:ext cx="102139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Heat-transfer care label</a:t>
            </a:r>
            <a:endParaRPr lang="en-US" sz="7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26775" y="2626825"/>
            <a:ext cx="132588" cy="13258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274540" y="4378672"/>
            <a:ext cx="2096839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1"/>
          <p:cNvSpPr/>
          <p:nvPr/>
        </p:nvSpPr>
        <p:spPr>
          <a:xfrm>
            <a:off x="2274540" y="4474518"/>
            <a:ext cx="230652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SIZES</a:t>
            </a:r>
            <a:endParaRPr lang="en-US" sz="560" dirty="0"/>
          </a:p>
        </p:txBody>
      </p:sp>
      <p:sp>
        <p:nvSpPr>
          <p:cNvPr id="33" name="Text 22"/>
          <p:cNvSpPr/>
          <p:nvPr/>
        </p:nvSpPr>
        <p:spPr>
          <a:xfrm>
            <a:off x="2274540" y="4624388"/>
            <a:ext cx="21571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</a:t>
            </a:r>
            <a:endParaRPr lang="en-US" sz="560" dirty="0"/>
          </a:p>
        </p:txBody>
      </p:sp>
      <p:sp>
        <p:nvSpPr>
          <p:cNvPr id="34" name="Text 23"/>
          <p:cNvSpPr/>
          <p:nvPr/>
        </p:nvSpPr>
        <p:spPr>
          <a:xfrm>
            <a:off x="2521446" y="4624388"/>
            <a:ext cx="161672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60" dirty="0"/>
          </a:p>
        </p:txBody>
      </p:sp>
      <p:sp>
        <p:nvSpPr>
          <p:cNvPr id="35" name="Text 24"/>
          <p:cNvSpPr/>
          <p:nvPr/>
        </p:nvSpPr>
        <p:spPr>
          <a:xfrm>
            <a:off x="2715369" y="4624388"/>
            <a:ext cx="173665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60" dirty="0"/>
          </a:p>
        </p:txBody>
      </p:sp>
      <p:sp>
        <p:nvSpPr>
          <p:cNvPr id="36" name="Text 25"/>
          <p:cNvSpPr/>
          <p:nvPr/>
        </p:nvSpPr>
        <p:spPr>
          <a:xfrm>
            <a:off x="2921050" y="4624388"/>
            <a:ext cx="157573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560" dirty="0"/>
          </a:p>
        </p:txBody>
      </p:sp>
      <p:sp>
        <p:nvSpPr>
          <p:cNvPr id="37" name="Text 26"/>
          <p:cNvSpPr/>
          <p:nvPr/>
        </p:nvSpPr>
        <p:spPr>
          <a:xfrm>
            <a:off x="3110954" y="4624388"/>
            <a:ext cx="211616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</a:t>
            </a:r>
            <a:endParaRPr lang="en-US" sz="560" dirty="0"/>
          </a:p>
        </p:txBody>
      </p:sp>
      <p:sp>
        <p:nvSpPr>
          <p:cNvPr id="38" name="Text 27"/>
          <p:cNvSpPr/>
          <p:nvPr/>
        </p:nvSpPr>
        <p:spPr>
          <a:xfrm>
            <a:off x="3353842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2XL</a:t>
            </a:r>
            <a:endParaRPr lang="en-US" sz="560" dirty="0"/>
          </a:p>
        </p:txBody>
      </p:sp>
      <p:sp>
        <p:nvSpPr>
          <p:cNvPr id="39" name="Text 28"/>
          <p:cNvSpPr/>
          <p:nvPr/>
        </p:nvSpPr>
        <p:spPr>
          <a:xfrm>
            <a:off x="3641973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3XL</a:t>
            </a:r>
            <a:endParaRPr lang="en-US" sz="560" dirty="0"/>
          </a:p>
        </p:txBody>
      </p:sp>
      <p:sp>
        <p:nvSpPr>
          <p:cNvPr id="40" name="Text 29"/>
          <p:cNvSpPr/>
          <p:nvPr/>
        </p:nvSpPr>
        <p:spPr>
          <a:xfrm>
            <a:off x="3930104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4XL</a:t>
            </a:r>
            <a:endParaRPr lang="en-US" sz="560" dirty="0"/>
          </a:p>
        </p:txBody>
      </p:sp>
      <p:sp>
        <p:nvSpPr>
          <p:cNvPr id="41" name="Text 30"/>
          <p:cNvSpPr/>
          <p:nvPr/>
        </p:nvSpPr>
        <p:spPr>
          <a:xfrm>
            <a:off x="4572000" y="279350"/>
            <a:ext cx="4572000" cy="4641949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1"/>
          <p:cNvSpPr/>
          <p:nvPr/>
        </p:nvSpPr>
        <p:spPr>
          <a:xfrm>
            <a:off x="8016180" y="4363641"/>
            <a:ext cx="1244218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4950" b="1" kern="0" spc="-99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TEE</a:t>
            </a:r>
            <a:endParaRPr lang="en-US" sz="4950" dirty="0"/>
          </a:p>
        </p:txBody>
      </p:sp>
      <p:sp>
        <p:nvSpPr>
          <p:cNvPr id="43" name="Text 32"/>
          <p:cNvSpPr/>
          <p:nvPr/>
        </p:nvSpPr>
        <p:spPr>
          <a:xfrm>
            <a:off x="4772620" y="479971"/>
            <a:ext cx="2167316" cy="144066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8B7A4A"/>
              </a:gs>
            </a:gsLst>
            <a:lin ang="0" scaled="1"/>
          </a:gradFill>
          <a:ln/>
        </p:spPr>
        <p:txBody>
          <a:bodyPr wrap="none" lIns="149543" tIns="21590" rIns="71120" bIns="21590" rtlCol="0" anchor="ctr"/>
          <a:lstStyle/>
          <a:p>
            <a:pPr marL="0" indent="0" algn="l">
              <a:buNone/>
            </a:pPr>
            <a:r>
              <a:rPr lang="en-US" sz="530" b="1" kern="0" spc="117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SERIES</a:t>
            </a:r>
            <a:endParaRPr lang="en-US" sz="53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98749" y="485710"/>
            <a:ext cx="132588" cy="132588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772620" y="695027"/>
            <a:ext cx="216731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GRAPHIC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TEE</a:t>
            </a:r>
            <a:endParaRPr lang="en-US" sz="840" dirty="0"/>
          </a:p>
        </p:txBody>
      </p:sp>
      <p:sp>
        <p:nvSpPr>
          <p:cNvPr id="46" name="Text 34"/>
          <p:cNvSpPr/>
          <p:nvPr/>
        </p:nvSpPr>
        <p:spPr>
          <a:xfrm>
            <a:off x="4772620" y="1138238"/>
            <a:ext cx="2167316" cy="247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COTTON · LEGEND SERIES ARTWORK</a:t>
            </a:r>
            <a:endParaRPr lang="en-US" sz="620" dirty="0"/>
          </a:p>
        </p:txBody>
      </p:sp>
      <p:sp>
        <p:nvSpPr>
          <p:cNvPr id="47" name="Text 35"/>
          <p:cNvSpPr/>
          <p:nvPr/>
        </p:nvSpPr>
        <p:spPr>
          <a:xfrm>
            <a:off x="4772620" y="1474589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6"/>
          <p:cNvSpPr/>
          <p:nvPr/>
        </p:nvSpPr>
        <p:spPr>
          <a:xfrm>
            <a:off x="4866829" y="1599009"/>
            <a:ext cx="142330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premium combed cotton</a:t>
            </a:r>
            <a:endParaRPr lang="en-US" sz="7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24855" y="1572825"/>
            <a:ext cx="132588" cy="132588"/>
          </a:xfrm>
          <a:prstGeom prst="rect">
            <a:avLst/>
          </a:prstGeom>
        </p:spPr>
      </p:pic>
      <p:sp>
        <p:nvSpPr>
          <p:cNvPr id="50" name="Text 37"/>
          <p:cNvSpPr/>
          <p:nvPr/>
        </p:nvSpPr>
        <p:spPr>
          <a:xfrm>
            <a:off x="4866829" y="1766441"/>
            <a:ext cx="103219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Pre-shrunk construction</a:t>
            </a:r>
            <a:endParaRPr lang="en-US" sz="7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724855" y="1740256"/>
            <a:ext cx="132588" cy="132588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4866829" y="1933873"/>
            <a:ext cx="907286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neck silhouette</a:t>
            </a:r>
            <a:endParaRPr lang="en-US" sz="700" dirty="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724855" y="1907688"/>
            <a:ext cx="132588" cy="132588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4866829" y="2101304"/>
            <a:ext cx="1189851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shoulder seams</a:t>
            </a:r>
            <a:endParaRPr lang="en-US" sz="700" dirty="0"/>
          </a:p>
        </p:txBody>
      </p:sp>
      <p:pic>
        <p:nvPicPr>
          <p:cNvPr id="55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24855" y="2075119"/>
            <a:ext cx="132588" cy="132588"/>
          </a:xfrm>
          <a:prstGeom prst="rect">
            <a:avLst/>
          </a:prstGeom>
        </p:spPr>
      </p:pic>
      <p:sp>
        <p:nvSpPr>
          <p:cNvPr id="56" name="Text 40"/>
          <p:cNvSpPr/>
          <p:nvPr/>
        </p:nvSpPr>
        <p:spPr>
          <a:xfrm>
            <a:off x="4866829" y="2268736"/>
            <a:ext cx="1837819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Legend print artwork — limited series</a:t>
            </a:r>
            <a:endParaRPr lang="en-US" sz="700" dirty="0"/>
          </a:p>
        </p:txBody>
      </p:sp>
      <p:pic>
        <p:nvPicPr>
          <p:cNvPr id="57" name="Image 1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724855" y="2242551"/>
            <a:ext cx="132588" cy="132588"/>
          </a:xfrm>
          <a:prstGeom prst="rect">
            <a:avLst/>
          </a:prstGeom>
        </p:spPr>
      </p:pic>
      <p:sp>
        <p:nvSpPr>
          <p:cNvPr id="58" name="Text 41"/>
          <p:cNvSpPr/>
          <p:nvPr/>
        </p:nvSpPr>
        <p:spPr>
          <a:xfrm>
            <a:off x="4866829" y="2436168"/>
            <a:ext cx="912688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print placement</a:t>
            </a:r>
            <a:endParaRPr lang="en-US" sz="700" dirty="0"/>
          </a:p>
        </p:txBody>
      </p:sp>
      <p:pic>
        <p:nvPicPr>
          <p:cNvPr id="59" name="Image 1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24855" y="2409983"/>
            <a:ext cx="132588" cy="132588"/>
          </a:xfrm>
          <a:prstGeom prst="rect">
            <a:avLst/>
          </a:prstGeom>
        </p:spPr>
      </p:pic>
      <p:sp>
        <p:nvSpPr>
          <p:cNvPr id="60" name="Text 42"/>
          <p:cNvSpPr/>
          <p:nvPr/>
        </p:nvSpPr>
        <p:spPr>
          <a:xfrm>
            <a:off x="4772620" y="3949005"/>
            <a:ext cx="2124819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43"/>
          <p:cNvSpPr/>
          <p:nvPr/>
        </p:nvSpPr>
        <p:spPr>
          <a:xfrm>
            <a:off x="4772620" y="4044851"/>
            <a:ext cx="233730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COLORWAYS</a:t>
            </a:r>
            <a:endParaRPr lang="en-US" sz="560" dirty="0"/>
          </a:p>
        </p:txBody>
      </p:sp>
      <p:sp>
        <p:nvSpPr>
          <p:cNvPr id="62" name="Text 44"/>
          <p:cNvSpPr/>
          <p:nvPr/>
        </p:nvSpPr>
        <p:spPr>
          <a:xfrm>
            <a:off x="4837361" y="4194721"/>
            <a:ext cx="128141" cy="128141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5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45"/>
          <p:cNvSpPr/>
          <p:nvPr/>
        </p:nvSpPr>
        <p:spPr>
          <a:xfrm>
            <a:off x="4759739" y="4344442"/>
            <a:ext cx="28338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 Black</a:t>
            </a:r>
            <a:endParaRPr lang="en-US" sz="450" dirty="0"/>
          </a:p>
        </p:txBody>
      </p:sp>
      <p:sp>
        <p:nvSpPr>
          <p:cNvPr id="64" name="Text 46"/>
          <p:cNvSpPr/>
          <p:nvPr/>
        </p:nvSpPr>
        <p:spPr>
          <a:xfrm>
            <a:off x="5199162" y="4194721"/>
            <a:ext cx="128141" cy="128141"/>
          </a:xfrm>
          <a:prstGeom prst="ellipse">
            <a:avLst/>
          </a:prstGeom>
          <a:solidFill>
            <a:srgbClr val="F5EDD6"/>
          </a:solidFill>
          <a:ln w="9525">
            <a:solidFill>
              <a:srgbClr val="F5EDD6">
                <a:alpha val="5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47"/>
          <p:cNvSpPr/>
          <p:nvPr/>
        </p:nvSpPr>
        <p:spPr>
          <a:xfrm>
            <a:off x="5085025" y="4344442"/>
            <a:ext cx="3565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White</a:t>
            </a:r>
            <a:endParaRPr lang="en-US" sz="450" dirty="0"/>
          </a:p>
        </p:txBody>
      </p:sp>
      <p:sp>
        <p:nvSpPr>
          <p:cNvPr id="66" name="Text 48"/>
          <p:cNvSpPr/>
          <p:nvPr/>
        </p:nvSpPr>
        <p:spPr>
          <a:xfrm>
            <a:off x="5580162" y="4194721"/>
            <a:ext cx="128141" cy="128141"/>
          </a:xfrm>
          <a:prstGeom prst="ellipse">
            <a:avLst/>
          </a:prstGeom>
          <a:gradFill rotWithShape="1">
            <a:gsLst>
              <a:gs pos="0">
                <a:srgbClr val="C9A84C"/>
              </a:gs>
              <a:gs pos="100000">
                <a:srgbClr val="8B7A4A"/>
              </a:gs>
            </a:gsLst>
            <a:lin ang="2700000" scaled="1"/>
          </a:gradFill>
          <a:ln w="9525">
            <a:solidFill>
              <a:srgbClr val="C9A84C">
                <a:alpha val="8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49"/>
          <p:cNvSpPr/>
          <p:nvPr/>
        </p:nvSpPr>
        <p:spPr>
          <a:xfrm>
            <a:off x="5481578" y="4344442"/>
            <a:ext cx="32545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Rush</a:t>
            </a:r>
            <a:endParaRPr lang="en-US" sz="450" dirty="0"/>
          </a:p>
        </p:txBody>
      </p:sp>
      <p:sp>
        <p:nvSpPr>
          <p:cNvPr id="68" name="Text 50"/>
          <p:cNvSpPr/>
          <p:nvPr/>
        </p:nvSpPr>
        <p:spPr>
          <a:xfrm>
            <a:off x="4772620" y="4516487"/>
            <a:ext cx="2124819" cy="261342"/>
          </a:xfrm>
          <a:prstGeom prst="rect">
            <a:avLst/>
          </a:prstGeom>
          <a:solidFill>
            <a:srgbClr val="C9A84C">
              <a:alpha val="8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51"/>
          <p:cNvSpPr/>
          <p:nvPr/>
        </p:nvSpPr>
        <p:spPr>
          <a:xfrm>
            <a:off x="4868466" y="4593729"/>
            <a:ext cx="36147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560" dirty="0"/>
          </a:p>
        </p:txBody>
      </p:sp>
      <p:sp>
        <p:nvSpPr>
          <p:cNvPr id="70" name="Text 52"/>
          <p:cNvSpPr/>
          <p:nvPr/>
        </p:nvSpPr>
        <p:spPr>
          <a:xfrm>
            <a:off x="5240238" y="4561433"/>
            <a:ext cx="61604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$195 – $450</a:t>
            </a:r>
            <a:endParaRPr lang="en-US" sz="900" dirty="0"/>
          </a:p>
        </p:txBody>
      </p:sp>
      <p:sp>
        <p:nvSpPr>
          <p:cNvPr id="71" name="Text 53"/>
          <p:cNvSpPr/>
          <p:nvPr/>
        </p:nvSpPr>
        <p:spPr>
          <a:xfrm>
            <a:off x="7040910" y="279350"/>
            <a:ext cx="2103090" cy="4641949"/>
          </a:xfrm>
          <a:prstGeom prst="rect">
            <a:avLst/>
          </a:prstGeom>
          <a:gradFill rotWithShape="1">
            <a:gsLst>
              <a:gs pos="0">
                <a:srgbClr val="1A1A1A"/>
              </a:gs>
              <a:gs pos="50000">
                <a:srgbClr val="111111"/>
              </a:gs>
              <a:gs pos="100000">
                <a:srgbClr val="0A0A0A"/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2" name="Image 16" descr="preencoded.png"/>
          <p:cNvPicPr>
            <a:picLocks noChangeAspect="1"/>
          </p:cNvPicPr>
          <p:nvPr/>
        </p:nvPicPr>
        <p:blipFill>
          <a:blip>
            <a:alphaModFix amt="92000"/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556599" y="1957388"/>
            <a:ext cx="1071563" cy="1285875"/>
          </a:xfrm>
          <a:prstGeom prst="rect">
            <a:avLst/>
          </a:prstGeom>
        </p:spPr>
      </p:pic>
      <p:sp>
        <p:nvSpPr>
          <p:cNvPr id="73" name="Text 54"/>
          <p:cNvSpPr/>
          <p:nvPr/>
        </p:nvSpPr>
        <p:spPr>
          <a:xfrm>
            <a:off x="8092384" y="2600326"/>
            <a:ext cx="1051616" cy="142875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55"/>
          <p:cNvSpPr/>
          <p:nvPr/>
        </p:nvSpPr>
        <p:spPr>
          <a:xfrm>
            <a:off x="9134475" y="4692700"/>
            <a:ext cx="9525" cy="22860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56"/>
          <p:cNvSpPr/>
          <p:nvPr/>
        </p:nvSpPr>
        <p:spPr>
          <a:xfrm>
            <a:off x="0" y="4921300"/>
            <a:ext cx="9144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0000"/>
                </a:srgbClr>
              </a:gs>
              <a:gs pos="8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57"/>
          <p:cNvSpPr/>
          <p:nvPr/>
        </p:nvSpPr>
        <p:spPr>
          <a:xfrm>
            <a:off x="0" y="4928890"/>
            <a:ext cx="9144000" cy="21461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58"/>
          <p:cNvSpPr/>
          <p:nvPr/>
        </p:nvSpPr>
        <p:spPr>
          <a:xfrm>
            <a:off x="0" y="4928890"/>
            <a:ext cx="9144000" cy="9525"/>
          </a:xfrm>
          <a:prstGeom prst="rect">
            <a:avLst/>
          </a:prstGeom>
          <a:solidFill>
            <a:srgbClr val="C9A84C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59"/>
          <p:cNvSpPr/>
          <p:nvPr/>
        </p:nvSpPr>
        <p:spPr>
          <a:xfrm>
            <a:off x="1714798" y="4992439"/>
            <a:ext cx="1102921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</a:t>
            </a:r>
            <a:endParaRPr lang="en-US" sz="510" dirty="0"/>
          </a:p>
        </p:txBody>
      </p:sp>
      <p:sp>
        <p:nvSpPr>
          <p:cNvPr id="79" name="Text 60"/>
          <p:cNvSpPr/>
          <p:nvPr/>
        </p:nvSpPr>
        <p:spPr>
          <a:xfrm>
            <a:off x="2946053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61"/>
          <p:cNvSpPr/>
          <p:nvPr/>
        </p:nvSpPr>
        <p:spPr>
          <a:xfrm>
            <a:off x="3196233" y="4992439"/>
            <a:ext cx="1427232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510" dirty="0"/>
          </a:p>
        </p:txBody>
      </p:sp>
      <p:sp>
        <p:nvSpPr>
          <p:cNvPr id="81" name="Text 62"/>
          <p:cNvSpPr/>
          <p:nvPr/>
        </p:nvSpPr>
        <p:spPr>
          <a:xfrm>
            <a:off x="4722316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63"/>
          <p:cNvSpPr/>
          <p:nvPr/>
        </p:nvSpPr>
        <p:spPr>
          <a:xfrm>
            <a:off x="4972496" y="4992439"/>
            <a:ext cx="1283003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 TECH &amp; DETAIL</a:t>
            </a:r>
            <a:endParaRPr lang="en-US" sz="510" dirty="0"/>
          </a:p>
        </p:txBody>
      </p:sp>
      <p:sp>
        <p:nvSpPr>
          <p:cNvPr id="83" name="Text 64"/>
          <p:cNvSpPr/>
          <p:nvPr/>
        </p:nvSpPr>
        <p:spPr>
          <a:xfrm>
            <a:off x="6367463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65"/>
          <p:cNvSpPr/>
          <p:nvPr/>
        </p:nvSpPr>
        <p:spPr>
          <a:xfrm>
            <a:off x="6617643" y="4992439"/>
            <a:ext cx="892552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</a:t>
            </a:r>
            <a:endParaRPr lang="en-US" sz="510" dirty="0"/>
          </a:p>
        </p:txBody>
      </p:sp>
      <p:sp>
        <p:nvSpPr>
          <p:cNvPr id="85" name="Text 66"/>
          <p:cNvSpPr/>
          <p:nvPr/>
        </p:nvSpPr>
        <p:spPr>
          <a:xfrm>
            <a:off x="4564409" y="279350"/>
            <a:ext cx="7590" cy="4641952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5000">
                <a:srgbClr val="C9A84C">
                  <a:alpha val="45000"/>
                </a:srgbClr>
              </a:gs>
              <a:gs pos="85000">
                <a:srgbClr val="C9A84C">
                  <a:alpha val="4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67"/>
          <p:cNvSpPr/>
          <p:nvPr/>
        </p:nvSpPr>
        <p:spPr>
          <a:xfrm>
            <a:off x="7526759" y="4630043"/>
            <a:ext cx="1131243" cy="168009"/>
          </a:xfrm>
          <a:prstGeom prst="rect">
            <a:avLst/>
          </a:prstGeom>
          <a:solidFill>
            <a:srgbClr val="000000">
              <a:alpha val="75000"/>
            </a:srgbClr>
          </a:solidFill>
          <a:ln w="9525">
            <a:solidFill>
              <a:srgbClr val="C9A84C">
                <a:alpha val="45000"/>
              </a:srgbClr>
            </a:solidFill>
          </a:ln>
        </p:spPr>
        <p:txBody>
          <a:bodyPr wrap="none" lIns="86360" tIns="29210" rIns="86360" bIns="29210" rtlCol="0" anchor="t"/>
          <a:lstStyle/>
          <a:p>
            <a:pPr marL="0" indent="0" algn="ctr">
              <a:buNone/>
            </a:pPr>
            <a:r>
              <a:rPr lang="en-US" sz="450" kern="0" spc="13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GRAPHIC VIEW</a:t>
            </a:r>
            <a:endParaRPr lang="en-US" sz="450" dirty="0"/>
          </a:p>
        </p:txBody>
      </p:sp>
      <p:sp>
        <p:nvSpPr>
          <p:cNvPr id="87" name="Text 68"/>
          <p:cNvSpPr/>
          <p:nvPr/>
        </p:nvSpPr>
        <p:spPr>
          <a:xfrm>
            <a:off x="0" y="0"/>
            <a:ext cx="9144000" cy="271760"/>
          </a:xfrm>
          <a:prstGeom prst="rect">
            <a:avLst/>
          </a:prstGeom>
          <a:solidFill>
            <a:srgbClr val="08080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69"/>
          <p:cNvSpPr/>
          <p:nvPr/>
        </p:nvSpPr>
        <p:spPr>
          <a:xfrm>
            <a:off x="342900" y="132011"/>
            <a:ext cx="228600" cy="7590"/>
          </a:xfrm>
          <a:prstGeom prst="rect">
            <a:avLst/>
          </a:prstGeom>
          <a:solidFill>
            <a:srgbClr val="C9A84C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0"/>
          <p:cNvSpPr/>
          <p:nvPr/>
        </p:nvSpPr>
        <p:spPr>
          <a:xfrm>
            <a:off x="642491" y="76795"/>
            <a:ext cx="60458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</a:t>
            </a:r>
            <a:endParaRPr lang="en-US" sz="620" dirty="0"/>
          </a:p>
        </p:txBody>
      </p:sp>
      <p:sp>
        <p:nvSpPr>
          <p:cNvPr id="90" name="Text 71"/>
          <p:cNvSpPr/>
          <p:nvPr/>
        </p:nvSpPr>
        <p:spPr>
          <a:xfrm>
            <a:off x="1263104" y="132011"/>
            <a:ext cx="228600" cy="7590"/>
          </a:xfrm>
          <a:prstGeom prst="rect">
            <a:avLst/>
          </a:prstGeom>
          <a:solidFill>
            <a:srgbClr val="C9A84C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72"/>
          <p:cNvSpPr/>
          <p:nvPr/>
        </p:nvSpPr>
        <p:spPr>
          <a:xfrm>
            <a:off x="1562695" y="82451"/>
            <a:ext cx="88076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 &amp; DETAIL</a:t>
            </a:r>
            <a:endParaRPr lang="en-US" sz="560" dirty="0"/>
          </a:p>
        </p:txBody>
      </p:sp>
      <p:pic>
        <p:nvPicPr>
          <p:cNvPr id="92" name="Image 17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753805" y="69512"/>
            <a:ext cx="132588" cy="132588"/>
          </a:xfrm>
          <a:prstGeom prst="rect">
            <a:avLst/>
          </a:prstGeom>
        </p:spPr>
      </p:pic>
      <p:sp>
        <p:nvSpPr>
          <p:cNvPr id="93" name="Text 73"/>
          <p:cNvSpPr/>
          <p:nvPr/>
        </p:nvSpPr>
        <p:spPr>
          <a:xfrm>
            <a:off x="7993410" y="82451"/>
            <a:ext cx="8884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S/S &amp; F/W 2026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-10000" r="50000" b="11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2000"/>
                </a:srgbClr>
              </a:gs>
              <a:gs pos="33333">
                <a:srgbClr val="C9A84C">
                  <a:alpha val="2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75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5275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6439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76439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57602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57602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8950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681315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C9A84C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1179" y="2141339"/>
            <a:ext cx="1179165" cy="206305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770114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4" name="Text 11"/>
          <p:cNvSpPr/>
          <p:nvPr/>
        </p:nvSpPr>
        <p:spPr>
          <a:xfrm>
            <a:off x="4562479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C9A84C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480" y="2141339"/>
            <a:ext cx="1264890" cy="206305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651278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7" name="Text 13"/>
          <p:cNvSpPr/>
          <p:nvPr/>
        </p:nvSpPr>
        <p:spPr>
          <a:xfrm>
            <a:off x="7443642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B4D2FF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3988" y="2141339"/>
            <a:ext cx="1098203" cy="206305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076873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5958036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8839200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alphaModFix amt="8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1892" y="214610"/>
            <a:ext cx="300038" cy="3000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799457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sp>
        <p:nvSpPr>
          <p:cNvPr id="24" name="Text 18"/>
          <p:cNvSpPr/>
          <p:nvPr/>
        </p:nvSpPr>
        <p:spPr>
          <a:xfrm>
            <a:off x="295275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23416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001</a:t>
            </a:r>
            <a:endParaRPr lang="en-US" sz="560" dirty="0"/>
          </a:p>
        </p:txBody>
      </p:sp>
      <p:sp>
        <p:nvSpPr>
          <p:cNvPr id="26" name="Text 20"/>
          <p:cNvSpPr/>
          <p:nvPr/>
        </p:nvSpPr>
        <p:spPr>
          <a:xfrm>
            <a:off x="423416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LEGEND SET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423416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hoodie · tapered jogger · gold SML side stripe · embroidered crest · zippered ankles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23416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23416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$850 – $895</a:t>
            </a:r>
            <a:endParaRPr lang="en-US" sz="1010" dirty="0"/>
          </a:p>
        </p:txBody>
      </p:sp>
      <p:sp>
        <p:nvSpPr>
          <p:cNvPr id="30" name="Text 24"/>
          <p:cNvSpPr/>
          <p:nvPr/>
        </p:nvSpPr>
        <p:spPr>
          <a:xfrm>
            <a:off x="2178844" y="4726632"/>
            <a:ext cx="85735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SML-TS-001-BLK</a:t>
            </a:r>
            <a:endParaRPr lang="en-US" sz="560" dirty="0"/>
          </a:p>
        </p:txBody>
      </p:sp>
      <p:sp>
        <p:nvSpPr>
          <p:cNvPr id="31" name="Text 25"/>
          <p:cNvSpPr/>
          <p:nvPr/>
        </p:nvSpPr>
        <p:spPr>
          <a:xfrm>
            <a:off x="5680621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sp>
        <p:nvSpPr>
          <p:cNvPr id="32" name="Text 26"/>
          <p:cNvSpPr/>
          <p:nvPr/>
        </p:nvSpPr>
        <p:spPr>
          <a:xfrm>
            <a:off x="3176439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304580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002</a:t>
            </a:r>
            <a:endParaRPr lang="en-US" sz="560" dirty="0"/>
          </a:p>
        </p:txBody>
      </p:sp>
      <p:sp>
        <p:nvSpPr>
          <p:cNvPr id="34" name="Text 28"/>
          <p:cNvSpPr/>
          <p:nvPr/>
        </p:nvSpPr>
        <p:spPr>
          <a:xfrm>
            <a:off x="3304580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SOVEREIGN SET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3304580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velour · relaxed fit · tonal SML logo · wide-leg pants · gold velour stripe</a:t>
            </a:r>
            <a:endParaRPr lang="en-US" sz="620" dirty="0"/>
          </a:p>
        </p:txBody>
      </p:sp>
      <p:sp>
        <p:nvSpPr>
          <p:cNvPr id="36" name="Text 30"/>
          <p:cNvSpPr/>
          <p:nvPr/>
        </p:nvSpPr>
        <p:spPr>
          <a:xfrm>
            <a:off x="3304580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3304580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$950 – $995</a:t>
            </a:r>
            <a:endParaRPr lang="en-US" sz="1010" dirty="0"/>
          </a:p>
        </p:txBody>
      </p:sp>
      <p:sp>
        <p:nvSpPr>
          <p:cNvPr id="38" name="Text 32"/>
          <p:cNvSpPr/>
          <p:nvPr/>
        </p:nvSpPr>
        <p:spPr>
          <a:xfrm>
            <a:off x="5056138" y="4726632"/>
            <a:ext cx="86161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SML-TS-002-VLR</a:t>
            </a:r>
            <a:endParaRPr lang="en-US" sz="560" dirty="0"/>
          </a:p>
        </p:txBody>
      </p:sp>
      <p:sp>
        <p:nvSpPr>
          <p:cNvPr id="39" name="Text 33"/>
          <p:cNvSpPr/>
          <p:nvPr/>
        </p:nvSpPr>
        <p:spPr>
          <a:xfrm>
            <a:off x="8561784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sp>
        <p:nvSpPr>
          <p:cNvPr id="40" name="Text 34"/>
          <p:cNvSpPr/>
          <p:nvPr/>
        </p:nvSpPr>
        <p:spPr>
          <a:xfrm>
            <a:off x="6057602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6185743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003</a:t>
            </a:r>
            <a:endParaRPr lang="en-US" sz="560" dirty="0"/>
          </a:p>
        </p:txBody>
      </p:sp>
      <p:sp>
        <p:nvSpPr>
          <p:cNvPr id="42" name="Text 36"/>
          <p:cNvSpPr/>
          <p:nvPr/>
        </p:nvSpPr>
        <p:spPr>
          <a:xfrm>
            <a:off x="6185743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ELITE PERFORMANCE SET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185743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· moisture-wicking · reflective logo · slim tapered · zip pockets</a:t>
            </a:r>
            <a:endParaRPr lang="en-US" sz="620" dirty="0"/>
          </a:p>
        </p:txBody>
      </p:sp>
      <p:sp>
        <p:nvSpPr>
          <p:cNvPr id="44" name="Text 38"/>
          <p:cNvSpPr/>
          <p:nvPr/>
        </p:nvSpPr>
        <p:spPr>
          <a:xfrm>
            <a:off x="6185743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6185743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$1,050 – $1,100</a:t>
            </a:r>
            <a:endParaRPr lang="en-US" sz="1010" dirty="0"/>
          </a:p>
        </p:txBody>
      </p:sp>
      <p:sp>
        <p:nvSpPr>
          <p:cNvPr id="46" name="Text 40"/>
          <p:cNvSpPr/>
          <p:nvPr/>
        </p:nvSpPr>
        <p:spPr>
          <a:xfrm>
            <a:off x="7933432" y="4726632"/>
            <a:ext cx="86586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SML-TS-003-PRF</a:t>
            </a:r>
            <a:endParaRPr lang="en-US" sz="560" dirty="0"/>
          </a:p>
        </p:txBody>
      </p:sp>
      <p:sp>
        <p:nvSpPr>
          <p:cNvPr id="47" name="Text 41"/>
          <p:cNvSpPr/>
          <p:nvPr/>
        </p:nvSpPr>
        <p:spPr>
          <a:xfrm>
            <a:off x="429220" y="257770"/>
            <a:ext cx="911411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· 2026 COLLECTION</a:t>
            </a:r>
            <a:endParaRPr lang="en-US" sz="620" dirty="0"/>
          </a:p>
        </p:txBody>
      </p:sp>
      <p:sp>
        <p:nvSpPr>
          <p:cNvPr id="48" name="Text 42"/>
          <p:cNvSpPr/>
          <p:nvPr/>
        </p:nvSpPr>
        <p:spPr>
          <a:xfrm>
            <a:off x="429220" y="418951"/>
            <a:ext cx="8699837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kern="0" spc="6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TRACKSUITS</a:t>
            </a:r>
            <a:endParaRPr lang="en-US" sz="2930" dirty="0"/>
          </a:p>
        </p:txBody>
      </p:sp>
      <p:sp>
        <p:nvSpPr>
          <p:cNvPr id="49" name="Text 43"/>
          <p:cNvSpPr/>
          <p:nvPr/>
        </p:nvSpPr>
        <p:spPr>
          <a:xfrm>
            <a:off x="429220" y="862013"/>
            <a:ext cx="8285559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6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429220" y="926753"/>
            <a:ext cx="911411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131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ENGINEERED FOR LEGENDS  —  REFINED FOR THE ELITE</a:t>
            </a:r>
            <a:endParaRPr lang="en-US" sz="730" dirty="0"/>
          </a:p>
        </p:txBody>
      </p:sp>
      <p:sp>
        <p:nvSpPr>
          <p:cNvPr id="51" name="Text 45"/>
          <p:cNvSpPr/>
          <p:nvPr/>
        </p:nvSpPr>
        <p:spPr>
          <a:xfrm>
            <a:off x="285750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6"/>
          <p:cNvSpPr/>
          <p:nvPr/>
        </p:nvSpPr>
        <p:spPr>
          <a:xfrm>
            <a:off x="3166914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7"/>
          <p:cNvSpPr/>
          <p:nvPr/>
        </p:nvSpPr>
        <p:spPr>
          <a:xfrm>
            <a:off x="6048077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8"/>
          <p:cNvSpPr/>
          <p:nvPr/>
        </p:nvSpPr>
        <p:spPr>
          <a:xfrm>
            <a:off x="0" y="5000030"/>
            <a:ext cx="9144000" cy="143470"/>
          </a:xfrm>
          <a:prstGeom prst="rect">
            <a:avLst/>
          </a:prstGeom>
          <a:gradFill rotWithShape="1">
            <a:gsLst>
              <a:gs pos="0">
                <a:srgbClr val="C9A84C">
                  <a:alpha val="18000"/>
                </a:srgbClr>
              </a:gs>
              <a:gs pos="4000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33333">
                <a:srgbClr val="C9A84C">
                  <a:alpha val="3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3571280"/>
            <a:ext cx="9144000" cy="1572220"/>
          </a:xfrm>
          <a:prstGeom prst="rect">
            <a:avLst/>
          </a:prstGeom>
          <a:gradFill rotWithShape="1">
            <a:gsLst>
              <a:gs pos="0">
                <a:srgbClr val="C9A84C">
                  <a:alpha val="13000"/>
                </a:srgbClr>
              </a:gs>
              <a:gs pos="40000">
                <a:srgbClr val="C9A84C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56548" y="1857375"/>
            <a:ext cx="2986780" cy="142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0"/>
              </a:lnSpc>
              <a:buNone/>
            </a:pPr>
            <a:r>
              <a:rPr lang="en-US" sz="11250" b="1" kern="0" spc="-45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466725" y="940296"/>
            <a:ext cx="2676230" cy="7590"/>
          </a:xfrm>
          <a:custGeom>
            <a:avLst/>
            <a:gdLst/>
            <a:ahLst/>
            <a:cxnLst/>
            <a:rect l="l" t="t" r="r" b="b"/>
            <a:pathLst>
              <a:path w="2676230" h="7590">
                <a:moveTo>
                  <a:pt x="13970" y="0"/>
                </a:moveTo>
                <a:lnTo>
                  <a:pt x="2662260" y="0"/>
                </a:lnTo>
                <a:lnTo>
                  <a:pt x="2667320" y="949"/>
                </a:lnTo>
                <a:lnTo>
                  <a:pt x="2669289" y="1898"/>
                </a:lnTo>
                <a:lnTo>
                  <a:pt x="2670711" y="2846"/>
                </a:lnTo>
                <a:lnTo>
                  <a:pt x="2671832" y="3795"/>
                </a:lnTo>
                <a:lnTo>
                  <a:pt x="2672750" y="4744"/>
                </a:lnTo>
                <a:lnTo>
                  <a:pt x="2673513" y="5693"/>
                </a:lnTo>
                <a:lnTo>
                  <a:pt x="2674153" y="6641"/>
                </a:lnTo>
                <a:lnTo>
                  <a:pt x="2674688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2154438"/>
            <a:ext cx="2676230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76302" y="940296"/>
            <a:ext cx="2676373" cy="7590"/>
          </a:xfrm>
          <a:custGeom>
            <a:avLst/>
            <a:gdLst/>
            <a:ahLst/>
            <a:cxnLst/>
            <a:rect l="l" t="t" r="r" b="b"/>
            <a:pathLst>
              <a:path w="2676373" h="7590">
                <a:moveTo>
                  <a:pt x="13970" y="0"/>
                </a:moveTo>
                <a:lnTo>
                  <a:pt x="2662403" y="0"/>
                </a:lnTo>
                <a:lnTo>
                  <a:pt x="2667463" y="949"/>
                </a:lnTo>
                <a:lnTo>
                  <a:pt x="2669432" y="1898"/>
                </a:lnTo>
                <a:lnTo>
                  <a:pt x="2670854" y="2846"/>
                </a:lnTo>
                <a:lnTo>
                  <a:pt x="2671975" y="3795"/>
                </a:lnTo>
                <a:lnTo>
                  <a:pt x="2672893" y="4744"/>
                </a:lnTo>
                <a:lnTo>
                  <a:pt x="2673656" y="5693"/>
                </a:lnTo>
                <a:lnTo>
                  <a:pt x="2674296" y="6641"/>
                </a:lnTo>
                <a:lnTo>
                  <a:pt x="2674831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276302" y="2154438"/>
            <a:ext cx="2676373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86029" y="940296"/>
            <a:ext cx="2676230" cy="7590"/>
          </a:xfrm>
          <a:custGeom>
            <a:avLst/>
            <a:gdLst/>
            <a:ahLst/>
            <a:cxnLst/>
            <a:rect l="l" t="t" r="r" b="b"/>
            <a:pathLst>
              <a:path w="2676230" h="7590">
                <a:moveTo>
                  <a:pt x="13970" y="0"/>
                </a:moveTo>
                <a:lnTo>
                  <a:pt x="2662260" y="0"/>
                </a:lnTo>
                <a:lnTo>
                  <a:pt x="2667320" y="949"/>
                </a:lnTo>
                <a:lnTo>
                  <a:pt x="2669289" y="1898"/>
                </a:lnTo>
                <a:lnTo>
                  <a:pt x="2670711" y="2846"/>
                </a:lnTo>
                <a:lnTo>
                  <a:pt x="2671832" y="3795"/>
                </a:lnTo>
                <a:lnTo>
                  <a:pt x="2672750" y="4744"/>
                </a:lnTo>
                <a:lnTo>
                  <a:pt x="2673513" y="5693"/>
                </a:lnTo>
                <a:lnTo>
                  <a:pt x="2674153" y="6641"/>
                </a:lnTo>
                <a:lnTo>
                  <a:pt x="2674688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86029" y="2154438"/>
            <a:ext cx="2676230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1901" y="1333351"/>
            <a:ext cx="1285875" cy="857250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8635" y="1293316"/>
            <a:ext cx="1071563" cy="937171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27329" y="1386632"/>
            <a:ext cx="1393478" cy="7505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76613" y="1040606"/>
            <a:ext cx="630748" cy="113407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lIns="49530" tIns="13970" rIns="49530" bIns="13970" rtlCol="0" anchor="t"/>
          <a:lstStyle/>
          <a:p>
            <a:pPr marL="0" indent="0" algn="l">
              <a:buNone/>
            </a:pPr>
            <a:r>
              <a:rPr lang="en-US" sz="450" b="1" kern="0" spc="90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SELLER</a:t>
            </a:r>
            <a:endParaRPr lang="en-US" sz="450" dirty="0"/>
          </a:p>
        </p:txBody>
      </p:sp>
      <p:sp>
        <p:nvSpPr>
          <p:cNvPr id="16" name="Text 11"/>
          <p:cNvSpPr/>
          <p:nvPr/>
        </p:nvSpPr>
        <p:spPr>
          <a:xfrm>
            <a:off x="3276302" y="940296"/>
            <a:ext cx="2676376" cy="13841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57200" y="257770"/>
            <a:ext cx="295301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FOOTWEAR COLLECTION</a:t>
            </a:r>
            <a:endParaRPr lang="en-US" sz="560" dirty="0"/>
          </a:p>
        </p:txBody>
      </p:sp>
      <p:sp>
        <p:nvSpPr>
          <p:cNvPr id="18" name="Text 13"/>
          <p:cNvSpPr/>
          <p:nvPr/>
        </p:nvSpPr>
        <p:spPr>
          <a:xfrm>
            <a:off x="457200" y="393650"/>
            <a:ext cx="2818790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spcBef>
                <a:spcPts val="230"/>
              </a:spcBef>
              <a:buNone/>
            </a:pPr>
            <a:r>
              <a:rPr lang="en-US" sz="2930" kern="0" spc="527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FOOTWEAR</a:t>
            </a:r>
            <a:endParaRPr lang="en-US" sz="2930" dirty="0"/>
          </a:p>
        </p:txBody>
      </p:sp>
      <p:sp>
        <p:nvSpPr>
          <p:cNvPr id="19" name="Text 14"/>
          <p:cNvSpPr/>
          <p:nvPr/>
        </p:nvSpPr>
        <p:spPr>
          <a:xfrm>
            <a:off x="6614711" y="422970"/>
            <a:ext cx="215721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i="1" kern="0" spc="54" dirty="0">
                <a:solidFill>
                  <a:srgbClr val="F5EDD6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step forward is a statement.</a:t>
            </a:r>
            <a:endParaRPr lang="en-US" sz="9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10199" y="616902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787610" y="629841"/>
            <a:ext cx="86242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S/S · F/W 2026</a:t>
            </a:r>
            <a:endParaRPr lang="en-US" sz="56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3266" y="616902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57200" y="808881"/>
            <a:ext cx="831473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7"/>
          <p:cNvSpPr/>
          <p:nvPr/>
        </p:nvSpPr>
        <p:spPr>
          <a:xfrm>
            <a:off x="457200" y="930771"/>
            <a:ext cx="2695277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466725" y="940296"/>
            <a:ext cx="2676227" cy="1643360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9"/>
          <p:cNvSpPr/>
          <p:nvPr/>
        </p:nvSpPr>
        <p:spPr>
          <a:xfrm>
            <a:off x="2610296" y="1040606"/>
            <a:ext cx="440993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$350</a:t>
            </a:r>
            <a:endParaRPr lang="en-US" sz="840" dirty="0"/>
          </a:p>
        </p:txBody>
      </p:sp>
      <p:sp>
        <p:nvSpPr>
          <p:cNvPr id="27" name="Text 20"/>
          <p:cNvSpPr/>
          <p:nvPr/>
        </p:nvSpPr>
        <p:spPr>
          <a:xfrm>
            <a:off x="1804835" y="2469354"/>
            <a:ext cx="1338117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81025" y="2683966"/>
            <a:ext cx="269239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LOW-PROFILE · LEATHER UPPER</a:t>
            </a:r>
            <a:endParaRPr lang="en-US" sz="560" dirty="0"/>
          </a:p>
        </p:txBody>
      </p:sp>
      <p:sp>
        <p:nvSpPr>
          <p:cNvPr id="29" name="Text 22"/>
          <p:cNvSpPr/>
          <p:nvPr/>
        </p:nvSpPr>
        <p:spPr>
          <a:xfrm>
            <a:off x="581025" y="2826097"/>
            <a:ext cx="269239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LEGEND LOW</a:t>
            </a:r>
            <a:endParaRPr lang="en-US" sz="960" dirty="0"/>
          </a:p>
        </p:txBody>
      </p:sp>
      <p:sp>
        <p:nvSpPr>
          <p:cNvPr id="30" name="Text 23"/>
          <p:cNvSpPr/>
          <p:nvPr/>
        </p:nvSpPr>
        <p:spPr>
          <a:xfrm>
            <a:off x="581025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4"/>
          <p:cNvSpPr/>
          <p:nvPr/>
        </p:nvSpPr>
        <p:spPr>
          <a:xfrm>
            <a:off x="581025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581025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581025" y="3584674"/>
            <a:ext cx="244762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7"/>
          <p:cNvSpPr/>
          <p:nvPr/>
        </p:nvSpPr>
        <p:spPr>
          <a:xfrm>
            <a:off x="581025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8"/>
          <p:cNvSpPr/>
          <p:nvPr/>
        </p:nvSpPr>
        <p:spPr>
          <a:xfrm>
            <a:off x="752475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36" name="Text 29"/>
          <p:cNvSpPr/>
          <p:nvPr/>
        </p:nvSpPr>
        <p:spPr>
          <a:xfrm>
            <a:off x="1443930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1615380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38" name="Text 31"/>
          <p:cNvSpPr/>
          <p:nvPr/>
        </p:nvSpPr>
        <p:spPr>
          <a:xfrm>
            <a:off x="2302222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2473672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40" name="Text 33"/>
          <p:cNvSpPr/>
          <p:nvPr/>
        </p:nvSpPr>
        <p:spPr>
          <a:xfrm>
            <a:off x="3266777" y="930771"/>
            <a:ext cx="2695426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6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3276302" y="940296"/>
            <a:ext cx="2676376" cy="164336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5420023" y="1040606"/>
            <a:ext cx="440993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20000"/>
            </a:srgbClr>
          </a:solidFill>
          <a:ln w="9525">
            <a:solidFill>
              <a:srgbClr val="C9A84C"/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$495</a:t>
            </a:r>
            <a:endParaRPr lang="en-US" sz="840" dirty="0"/>
          </a:p>
        </p:txBody>
      </p:sp>
      <p:sp>
        <p:nvSpPr>
          <p:cNvPr id="43" name="Text 36"/>
          <p:cNvSpPr/>
          <p:nvPr/>
        </p:nvSpPr>
        <p:spPr>
          <a:xfrm>
            <a:off x="4614412" y="2469354"/>
            <a:ext cx="1338266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7"/>
          <p:cNvSpPr/>
          <p:nvPr/>
        </p:nvSpPr>
        <p:spPr>
          <a:xfrm>
            <a:off x="3390602" y="2683966"/>
            <a:ext cx="269255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HIGH-TOP · CANVAS/LEATHER HYBRID</a:t>
            </a:r>
            <a:endParaRPr lang="en-US" sz="560" dirty="0"/>
          </a:p>
        </p:txBody>
      </p:sp>
      <p:sp>
        <p:nvSpPr>
          <p:cNvPr id="45" name="Text 38"/>
          <p:cNvSpPr/>
          <p:nvPr/>
        </p:nvSpPr>
        <p:spPr>
          <a:xfrm>
            <a:off x="3390602" y="2826097"/>
            <a:ext cx="2692554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CROWN HIGH</a:t>
            </a:r>
            <a:endParaRPr lang="en-US" sz="960" dirty="0"/>
          </a:p>
        </p:txBody>
      </p:sp>
      <p:sp>
        <p:nvSpPr>
          <p:cNvPr id="46" name="Text 39"/>
          <p:cNvSpPr/>
          <p:nvPr/>
        </p:nvSpPr>
        <p:spPr>
          <a:xfrm>
            <a:off x="3390602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3390602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1"/>
          <p:cNvSpPr/>
          <p:nvPr/>
        </p:nvSpPr>
        <p:spPr>
          <a:xfrm>
            <a:off x="3390602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3390602" y="3584674"/>
            <a:ext cx="244777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3390602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3562052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52" name="Text 45"/>
          <p:cNvSpPr/>
          <p:nvPr/>
        </p:nvSpPr>
        <p:spPr>
          <a:xfrm>
            <a:off x="4253508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4424958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54" name="Text 47"/>
          <p:cNvSpPr/>
          <p:nvPr/>
        </p:nvSpPr>
        <p:spPr>
          <a:xfrm>
            <a:off x="5111800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5283250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56" name="Text 49"/>
          <p:cNvSpPr/>
          <p:nvPr/>
        </p:nvSpPr>
        <p:spPr>
          <a:xfrm>
            <a:off x="6076504" y="930771"/>
            <a:ext cx="2695277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0"/>
          <p:cNvSpPr/>
          <p:nvPr/>
        </p:nvSpPr>
        <p:spPr>
          <a:xfrm>
            <a:off x="6086029" y="940296"/>
            <a:ext cx="2676227" cy="1643360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1"/>
          <p:cNvSpPr/>
          <p:nvPr/>
        </p:nvSpPr>
        <p:spPr>
          <a:xfrm>
            <a:off x="8297466" y="1040606"/>
            <a:ext cx="371770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$450</a:t>
            </a:r>
            <a:endParaRPr lang="en-US" sz="840" dirty="0"/>
          </a:p>
        </p:txBody>
      </p:sp>
      <p:sp>
        <p:nvSpPr>
          <p:cNvPr id="59" name="Text 52"/>
          <p:cNvSpPr/>
          <p:nvPr/>
        </p:nvSpPr>
        <p:spPr>
          <a:xfrm>
            <a:off x="7424139" y="2469354"/>
            <a:ext cx="1338117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3"/>
          <p:cNvSpPr/>
          <p:nvPr/>
        </p:nvSpPr>
        <p:spPr>
          <a:xfrm>
            <a:off x="6200329" y="2683966"/>
            <a:ext cx="269239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MOLDED EVA · SLIDE SANDAL</a:t>
            </a:r>
            <a:endParaRPr lang="en-US" sz="560" dirty="0"/>
          </a:p>
        </p:txBody>
      </p:sp>
      <p:sp>
        <p:nvSpPr>
          <p:cNvPr id="61" name="Text 54"/>
          <p:cNvSpPr/>
          <p:nvPr/>
        </p:nvSpPr>
        <p:spPr>
          <a:xfrm>
            <a:off x="6200329" y="2826097"/>
            <a:ext cx="269239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SLIDE ELITE</a:t>
            </a:r>
            <a:endParaRPr lang="en-US" sz="960" dirty="0"/>
          </a:p>
        </p:txBody>
      </p:sp>
      <p:sp>
        <p:nvSpPr>
          <p:cNvPr id="62" name="Text 55"/>
          <p:cNvSpPr/>
          <p:nvPr/>
        </p:nvSpPr>
        <p:spPr>
          <a:xfrm>
            <a:off x="6200329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6"/>
          <p:cNvSpPr/>
          <p:nvPr/>
        </p:nvSpPr>
        <p:spPr>
          <a:xfrm>
            <a:off x="6200329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7"/>
          <p:cNvSpPr/>
          <p:nvPr/>
        </p:nvSpPr>
        <p:spPr>
          <a:xfrm>
            <a:off x="6200329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8"/>
          <p:cNvSpPr/>
          <p:nvPr/>
        </p:nvSpPr>
        <p:spPr>
          <a:xfrm>
            <a:off x="6200329" y="3584674"/>
            <a:ext cx="244762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9"/>
          <p:cNvSpPr/>
          <p:nvPr/>
        </p:nvSpPr>
        <p:spPr>
          <a:xfrm>
            <a:off x="6200329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0"/>
          <p:cNvSpPr/>
          <p:nvPr/>
        </p:nvSpPr>
        <p:spPr>
          <a:xfrm>
            <a:off x="6371779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68" name="Text 61"/>
          <p:cNvSpPr/>
          <p:nvPr/>
        </p:nvSpPr>
        <p:spPr>
          <a:xfrm>
            <a:off x="7063234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62"/>
          <p:cNvSpPr/>
          <p:nvPr/>
        </p:nvSpPr>
        <p:spPr>
          <a:xfrm>
            <a:off x="7234684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70" name="Text 63"/>
          <p:cNvSpPr/>
          <p:nvPr/>
        </p:nvSpPr>
        <p:spPr>
          <a:xfrm>
            <a:off x="7921526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4"/>
          <p:cNvSpPr/>
          <p:nvPr/>
        </p:nvSpPr>
        <p:spPr>
          <a:xfrm>
            <a:off x="8092976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72" name="Text 65"/>
          <p:cNvSpPr/>
          <p:nvPr/>
        </p:nvSpPr>
        <p:spPr>
          <a:xfrm>
            <a:off x="457200" y="4736157"/>
            <a:ext cx="831473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6"/>
          <p:cNvSpPr/>
          <p:nvPr/>
        </p:nvSpPr>
        <p:spPr>
          <a:xfrm>
            <a:off x="457200" y="4825454"/>
            <a:ext cx="96687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COLORWAYS</a:t>
            </a:r>
            <a:endParaRPr lang="en-US" sz="560" dirty="0"/>
          </a:p>
        </p:txBody>
      </p:sp>
      <p:sp>
        <p:nvSpPr>
          <p:cNvPr id="74" name="Text 67"/>
          <p:cNvSpPr/>
          <p:nvPr/>
        </p:nvSpPr>
        <p:spPr>
          <a:xfrm>
            <a:off x="1479649" y="4814739"/>
            <a:ext cx="128141" cy="128141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8"/>
          <p:cNvSpPr/>
          <p:nvPr/>
        </p:nvSpPr>
        <p:spPr>
          <a:xfrm>
            <a:off x="1650950" y="4825454"/>
            <a:ext cx="48573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 BLACK</a:t>
            </a:r>
            <a:endParaRPr lang="en-US" sz="560" dirty="0"/>
          </a:p>
        </p:txBody>
      </p:sp>
      <p:sp>
        <p:nvSpPr>
          <p:cNvPr id="76" name="Text 69"/>
          <p:cNvSpPr/>
          <p:nvPr/>
        </p:nvSpPr>
        <p:spPr>
          <a:xfrm>
            <a:off x="2235994" y="4814739"/>
            <a:ext cx="128141" cy="128141"/>
          </a:xfrm>
          <a:prstGeom prst="ellipse">
            <a:avLst/>
          </a:prstGeom>
          <a:gradFill rotWithShape="1">
            <a:gsLst>
              <a:gs pos="50000">
                <a:srgbClr val="0A0A0A"/>
              </a:gs>
              <a:gs pos="50000">
                <a:srgbClr val="C9A84C"/>
              </a:gs>
            </a:gsLst>
            <a:lin ang="2700000" scaled="1"/>
          </a:gra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0"/>
          <p:cNvSpPr/>
          <p:nvPr/>
        </p:nvSpPr>
        <p:spPr>
          <a:xfrm>
            <a:off x="2407295" y="4825454"/>
            <a:ext cx="63650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/ GOLD</a:t>
            </a:r>
            <a:endParaRPr lang="en-US" sz="560" dirty="0"/>
          </a:p>
        </p:txBody>
      </p:sp>
      <p:sp>
        <p:nvSpPr>
          <p:cNvPr id="78" name="Text 71"/>
          <p:cNvSpPr/>
          <p:nvPr/>
        </p:nvSpPr>
        <p:spPr>
          <a:xfrm>
            <a:off x="3129409" y="4814739"/>
            <a:ext cx="128141" cy="128141"/>
          </a:xfrm>
          <a:prstGeom prst="ellipse">
            <a:avLst/>
          </a:prstGeom>
          <a:gradFill rotWithShape="1">
            <a:gsLst>
              <a:gs pos="50000">
                <a:srgbClr val="F0ECE0"/>
              </a:gs>
              <a:gs pos="50000">
                <a:srgbClr val="C9A84C"/>
              </a:gs>
            </a:gsLst>
            <a:lin ang="2700000" scaled="1"/>
          </a:gra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2"/>
          <p:cNvSpPr/>
          <p:nvPr/>
        </p:nvSpPr>
        <p:spPr>
          <a:xfrm>
            <a:off x="3300710" y="4825454"/>
            <a:ext cx="63192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/ GOLD</a:t>
            </a:r>
            <a:endParaRPr lang="en-US" sz="560" dirty="0"/>
          </a:p>
        </p:txBody>
      </p:sp>
      <p:sp>
        <p:nvSpPr>
          <p:cNvPr id="80" name="Text 73"/>
          <p:cNvSpPr/>
          <p:nvPr/>
        </p:nvSpPr>
        <p:spPr>
          <a:xfrm>
            <a:off x="6848773" y="4819799"/>
            <a:ext cx="195831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VIEW FULL FOOTWEAR LOOKBOOK</a:t>
            </a:r>
            <a:endParaRPr lang="en-US" sz="620" dirty="0"/>
          </a:p>
        </p:txBody>
      </p:sp>
      <p:pic>
        <p:nvPicPr>
          <p:cNvPr id="8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62773" y="4812441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33333">
                <a:srgbClr val="C9A84C">
                  <a:alpha val="3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45398" y="1714500"/>
            <a:ext cx="2893487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0"/>
              </a:lnSpc>
              <a:buNone/>
            </a:pPr>
            <a:r>
              <a:rPr lang="en-US" sz="9000" b="1" kern="0" spc="90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438745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201461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49426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2294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60255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2971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70936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33803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29220" y="314920"/>
            <a:ext cx="348818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429220" y="476101"/>
            <a:ext cx="3329635" cy="32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0"/>
              </a:lnSpc>
              <a:buNone/>
            </a:pPr>
            <a:r>
              <a:rPr lang="en-US" sz="2590" kern="0" spc="5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ACCESSORIES</a:t>
            </a:r>
            <a:endParaRPr lang="en-US" sz="2590" dirty="0"/>
          </a:p>
        </p:txBody>
      </p:sp>
      <p:sp>
        <p:nvSpPr>
          <p:cNvPr id="15" name="Text 13"/>
          <p:cNvSpPr/>
          <p:nvPr/>
        </p:nvSpPr>
        <p:spPr>
          <a:xfrm>
            <a:off x="6392228" y="646361"/>
            <a:ext cx="2379702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020"/>
              </a:lnSpc>
              <a:buNone/>
            </a:pPr>
            <a:r>
              <a:rPr lang="en-US" sz="680" kern="0" spc="19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DETAILS DEFINE THE LEGEND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429220" y="891332"/>
            <a:ext cx="8342709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50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29220" y="1042392"/>
            <a:ext cx="2010370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8745" y="1051917"/>
            <a:ext cx="19913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6886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614" y="1306116"/>
            <a:ext cx="150465" cy="15046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2443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22" name="Text 19"/>
          <p:cNvSpPr/>
          <p:nvPr/>
        </p:nvSpPr>
        <p:spPr>
          <a:xfrm>
            <a:off x="1932792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$450</a:t>
            </a:r>
            <a:endParaRPr lang="en-US" sz="1690" dirty="0"/>
          </a:p>
        </p:txBody>
      </p:sp>
      <p:sp>
        <p:nvSpPr>
          <p:cNvPr id="23" name="Text 20"/>
          <p:cNvSpPr/>
          <p:nvPr/>
        </p:nvSpPr>
        <p:spPr>
          <a:xfrm>
            <a:off x="566886" y="1667768"/>
            <a:ext cx="19085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GOLD CHAIN</a:t>
            </a:r>
            <a:endParaRPr lang="en-US" sz="730" dirty="0"/>
          </a:p>
        </p:txBody>
      </p:sp>
      <p:sp>
        <p:nvSpPr>
          <p:cNvPr id="24" name="Text 21"/>
          <p:cNvSpPr/>
          <p:nvPr/>
        </p:nvSpPr>
        <p:spPr>
          <a:xfrm>
            <a:off x="566886" y="1863923"/>
            <a:ext cx="1735038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66886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39217" y="1928664"/>
            <a:ext cx="126990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18k gold-plated stainless steel</a:t>
            </a:r>
            <a:endParaRPr lang="en-US" sz="680" dirty="0"/>
          </a:p>
        </p:txBody>
      </p:sp>
      <p:sp>
        <p:nvSpPr>
          <p:cNvPr id="27" name="Text 24"/>
          <p:cNvSpPr/>
          <p:nvPr/>
        </p:nvSpPr>
        <p:spPr>
          <a:xfrm>
            <a:off x="566886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39217" y="2089249"/>
            <a:ext cx="99241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medallion pendant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566886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639217" y="2249835"/>
            <a:ext cx="779919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24-inch rope chain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566886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639217" y="2410420"/>
            <a:ext cx="89582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Lobster clasp closure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566886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39217" y="2571006"/>
            <a:ext cx="811515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Anti-tarnish coating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566886" y="4154537"/>
            <a:ext cx="1769739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JEWELRY · SML-ACC-001</a:t>
            </a:r>
            <a:endParaRPr lang="en-US" sz="560" dirty="0"/>
          </a:p>
        </p:txBody>
      </p:sp>
      <p:sp>
        <p:nvSpPr>
          <p:cNvPr id="36" name="Text 33"/>
          <p:cNvSpPr/>
          <p:nvPr/>
        </p:nvSpPr>
        <p:spPr>
          <a:xfrm>
            <a:off x="566886" y="4154537"/>
            <a:ext cx="1735038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539901" y="1042392"/>
            <a:ext cx="2010519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2549426" y="1051917"/>
            <a:ext cx="1991469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2677567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8295" y="1306116"/>
            <a:ext cx="150465" cy="150465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4033272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42" name="Text 38"/>
          <p:cNvSpPr/>
          <p:nvPr/>
        </p:nvSpPr>
        <p:spPr>
          <a:xfrm>
            <a:off x="4043621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$195</a:t>
            </a:r>
            <a:endParaRPr lang="en-US" sz="1690" dirty="0"/>
          </a:p>
        </p:txBody>
      </p:sp>
      <p:sp>
        <p:nvSpPr>
          <p:cNvPr id="43" name="Text 39"/>
          <p:cNvSpPr/>
          <p:nvPr/>
        </p:nvSpPr>
        <p:spPr>
          <a:xfrm>
            <a:off x="2677567" y="1667768"/>
            <a:ext cx="190870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 SNAPBACK</a:t>
            </a:r>
            <a:endParaRPr lang="en-US" sz="730" dirty="0"/>
          </a:p>
        </p:txBody>
      </p:sp>
      <p:sp>
        <p:nvSpPr>
          <p:cNvPr id="44" name="Text 40"/>
          <p:cNvSpPr/>
          <p:nvPr/>
        </p:nvSpPr>
        <p:spPr>
          <a:xfrm>
            <a:off x="2677567" y="1863923"/>
            <a:ext cx="1735187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2677567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2"/>
          <p:cNvSpPr/>
          <p:nvPr/>
        </p:nvSpPr>
        <p:spPr>
          <a:xfrm>
            <a:off x="2749897" y="1928664"/>
            <a:ext cx="94330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6-panel structured cap</a:t>
            </a:r>
            <a:endParaRPr lang="en-US" sz="680" dirty="0"/>
          </a:p>
        </p:txBody>
      </p:sp>
      <p:sp>
        <p:nvSpPr>
          <p:cNvPr id="47" name="Text 43"/>
          <p:cNvSpPr/>
          <p:nvPr/>
        </p:nvSpPr>
        <p:spPr>
          <a:xfrm>
            <a:off x="2677567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4"/>
          <p:cNvSpPr/>
          <p:nvPr/>
        </p:nvSpPr>
        <p:spPr>
          <a:xfrm>
            <a:off x="2749897" y="2089249"/>
            <a:ext cx="1102921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woven SML patch</a:t>
            </a:r>
            <a:endParaRPr lang="en-US" sz="680" dirty="0"/>
          </a:p>
        </p:txBody>
      </p:sp>
      <p:sp>
        <p:nvSpPr>
          <p:cNvPr id="49" name="Text 45"/>
          <p:cNvSpPr/>
          <p:nvPr/>
        </p:nvSpPr>
        <p:spPr>
          <a:xfrm>
            <a:off x="2677567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6"/>
          <p:cNvSpPr/>
          <p:nvPr/>
        </p:nvSpPr>
        <p:spPr>
          <a:xfrm>
            <a:off x="2749897" y="2249835"/>
            <a:ext cx="84835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flat brim option</a:t>
            </a:r>
            <a:endParaRPr lang="en-US" sz="680" dirty="0"/>
          </a:p>
        </p:txBody>
      </p:sp>
      <p:sp>
        <p:nvSpPr>
          <p:cNvPr id="51" name="Text 47"/>
          <p:cNvSpPr/>
          <p:nvPr/>
        </p:nvSpPr>
        <p:spPr>
          <a:xfrm>
            <a:off x="2677567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8"/>
          <p:cNvSpPr/>
          <p:nvPr/>
        </p:nvSpPr>
        <p:spPr>
          <a:xfrm>
            <a:off x="2749897" y="2410420"/>
            <a:ext cx="120671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 snapback closure</a:t>
            </a:r>
            <a:endParaRPr lang="en-US" sz="680" dirty="0"/>
          </a:p>
        </p:txBody>
      </p:sp>
      <p:sp>
        <p:nvSpPr>
          <p:cNvPr id="53" name="Text 49"/>
          <p:cNvSpPr/>
          <p:nvPr/>
        </p:nvSpPr>
        <p:spPr>
          <a:xfrm>
            <a:off x="2677567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0"/>
          <p:cNvSpPr/>
          <p:nvPr/>
        </p:nvSpPr>
        <p:spPr>
          <a:xfrm>
            <a:off x="2749897" y="2571006"/>
            <a:ext cx="119067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Moisture-wicking sweatband</a:t>
            </a:r>
            <a:endParaRPr lang="en-US" sz="680" dirty="0"/>
          </a:p>
        </p:txBody>
      </p:sp>
      <p:sp>
        <p:nvSpPr>
          <p:cNvPr id="55" name="Text 51"/>
          <p:cNvSpPr/>
          <p:nvPr/>
        </p:nvSpPr>
        <p:spPr>
          <a:xfrm>
            <a:off x="2677567" y="4154537"/>
            <a:ext cx="1769891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HEADWEAR · SML-ACC-002</a:t>
            </a:r>
            <a:endParaRPr lang="en-US" sz="560" dirty="0"/>
          </a:p>
        </p:txBody>
      </p:sp>
      <p:sp>
        <p:nvSpPr>
          <p:cNvPr id="56" name="Text 52"/>
          <p:cNvSpPr/>
          <p:nvPr/>
        </p:nvSpPr>
        <p:spPr>
          <a:xfrm>
            <a:off x="2677567" y="4154537"/>
            <a:ext cx="1735187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3"/>
          <p:cNvSpPr/>
          <p:nvPr/>
        </p:nvSpPr>
        <p:spPr>
          <a:xfrm>
            <a:off x="4650730" y="1042392"/>
            <a:ext cx="2010370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4"/>
          <p:cNvSpPr/>
          <p:nvPr/>
        </p:nvSpPr>
        <p:spPr>
          <a:xfrm>
            <a:off x="4660255" y="1051917"/>
            <a:ext cx="19913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5"/>
          <p:cNvSpPr/>
          <p:nvPr/>
        </p:nvSpPr>
        <p:spPr>
          <a:xfrm>
            <a:off x="4788396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99124" y="1306116"/>
            <a:ext cx="150465" cy="150465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6017404" y="1195388"/>
            <a:ext cx="50603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62" name="Text 57"/>
          <p:cNvSpPr/>
          <p:nvPr/>
        </p:nvSpPr>
        <p:spPr>
          <a:xfrm>
            <a:off x="6031205" y="1315938"/>
            <a:ext cx="49223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$650</a:t>
            </a:r>
            <a:endParaRPr lang="en-US" sz="1690" dirty="0"/>
          </a:p>
        </p:txBody>
      </p:sp>
      <p:sp>
        <p:nvSpPr>
          <p:cNvPr id="63" name="Text 58"/>
          <p:cNvSpPr/>
          <p:nvPr/>
        </p:nvSpPr>
        <p:spPr>
          <a:xfrm>
            <a:off x="4788396" y="1667768"/>
            <a:ext cx="19085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DUFFLE BAG</a:t>
            </a:r>
            <a:endParaRPr lang="en-US" sz="730" dirty="0"/>
          </a:p>
        </p:txBody>
      </p:sp>
      <p:sp>
        <p:nvSpPr>
          <p:cNvPr id="64" name="Text 59"/>
          <p:cNvSpPr/>
          <p:nvPr/>
        </p:nvSpPr>
        <p:spPr>
          <a:xfrm>
            <a:off x="4788396" y="1863923"/>
            <a:ext cx="1735038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0"/>
          <p:cNvSpPr/>
          <p:nvPr/>
        </p:nvSpPr>
        <p:spPr>
          <a:xfrm>
            <a:off x="4788396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1"/>
          <p:cNvSpPr/>
          <p:nvPr/>
        </p:nvSpPr>
        <p:spPr>
          <a:xfrm>
            <a:off x="4860727" y="1928664"/>
            <a:ext cx="118592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Vegan leather &amp; nylon blend</a:t>
            </a:r>
            <a:endParaRPr lang="en-US" sz="680" dirty="0"/>
          </a:p>
        </p:txBody>
      </p:sp>
      <p:sp>
        <p:nvSpPr>
          <p:cNvPr id="67" name="Text 62"/>
          <p:cNvSpPr/>
          <p:nvPr/>
        </p:nvSpPr>
        <p:spPr>
          <a:xfrm>
            <a:off x="4788396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3"/>
          <p:cNvSpPr/>
          <p:nvPr/>
        </p:nvSpPr>
        <p:spPr>
          <a:xfrm>
            <a:off x="4860727" y="2089249"/>
            <a:ext cx="111356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embossed side panel</a:t>
            </a:r>
            <a:endParaRPr lang="en-US" sz="680" dirty="0"/>
          </a:p>
        </p:txBody>
      </p:sp>
      <p:sp>
        <p:nvSpPr>
          <p:cNvPr id="69" name="Text 64"/>
          <p:cNvSpPr/>
          <p:nvPr/>
        </p:nvSpPr>
        <p:spPr>
          <a:xfrm>
            <a:off x="4788396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5"/>
          <p:cNvSpPr/>
          <p:nvPr/>
        </p:nvSpPr>
        <p:spPr>
          <a:xfrm>
            <a:off x="4860727" y="2249835"/>
            <a:ext cx="74652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YKK zippers</a:t>
            </a:r>
            <a:endParaRPr lang="en-US" sz="680" dirty="0"/>
          </a:p>
        </p:txBody>
      </p:sp>
      <p:sp>
        <p:nvSpPr>
          <p:cNvPr id="71" name="Text 66"/>
          <p:cNvSpPr/>
          <p:nvPr/>
        </p:nvSpPr>
        <p:spPr>
          <a:xfrm>
            <a:off x="4788396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7"/>
          <p:cNvSpPr/>
          <p:nvPr/>
        </p:nvSpPr>
        <p:spPr>
          <a:xfrm>
            <a:off x="4860727" y="2410420"/>
            <a:ext cx="953944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shoulder strap</a:t>
            </a:r>
            <a:endParaRPr lang="en-US" sz="680" dirty="0"/>
          </a:p>
        </p:txBody>
      </p:sp>
      <p:sp>
        <p:nvSpPr>
          <p:cNvPr id="73" name="Text 68"/>
          <p:cNvSpPr/>
          <p:nvPr/>
        </p:nvSpPr>
        <p:spPr>
          <a:xfrm>
            <a:off x="4788396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69"/>
          <p:cNvSpPr/>
          <p:nvPr/>
        </p:nvSpPr>
        <p:spPr>
          <a:xfrm>
            <a:off x="4860727" y="2571006"/>
            <a:ext cx="104333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Shoe compartment · 40L</a:t>
            </a:r>
            <a:endParaRPr lang="en-US" sz="680" dirty="0"/>
          </a:p>
        </p:txBody>
      </p:sp>
      <p:sp>
        <p:nvSpPr>
          <p:cNvPr id="75" name="Text 70"/>
          <p:cNvSpPr/>
          <p:nvPr/>
        </p:nvSpPr>
        <p:spPr>
          <a:xfrm>
            <a:off x="4788396" y="4154537"/>
            <a:ext cx="1769739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 · SML-ACC-003</a:t>
            </a:r>
            <a:endParaRPr lang="en-US" sz="560" dirty="0"/>
          </a:p>
        </p:txBody>
      </p:sp>
      <p:sp>
        <p:nvSpPr>
          <p:cNvPr id="76" name="Text 71"/>
          <p:cNvSpPr/>
          <p:nvPr/>
        </p:nvSpPr>
        <p:spPr>
          <a:xfrm>
            <a:off x="4788396" y="4154537"/>
            <a:ext cx="1735038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2"/>
          <p:cNvSpPr/>
          <p:nvPr/>
        </p:nvSpPr>
        <p:spPr>
          <a:xfrm>
            <a:off x="6761411" y="1042392"/>
            <a:ext cx="2010519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73"/>
          <p:cNvSpPr/>
          <p:nvPr/>
        </p:nvSpPr>
        <p:spPr>
          <a:xfrm>
            <a:off x="6770936" y="1051917"/>
            <a:ext cx="1991469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4"/>
          <p:cNvSpPr/>
          <p:nvPr/>
        </p:nvSpPr>
        <p:spPr>
          <a:xfrm>
            <a:off x="6899077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09805" y="1306116"/>
            <a:ext cx="150465" cy="150465"/>
          </a:xfrm>
          <a:prstGeom prst="rect">
            <a:avLst/>
          </a:prstGeom>
        </p:spPr>
      </p:pic>
      <p:sp>
        <p:nvSpPr>
          <p:cNvPr id="81" name="Text 75"/>
          <p:cNvSpPr/>
          <p:nvPr/>
        </p:nvSpPr>
        <p:spPr>
          <a:xfrm>
            <a:off x="8254782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82" name="Text 76"/>
          <p:cNvSpPr/>
          <p:nvPr/>
        </p:nvSpPr>
        <p:spPr>
          <a:xfrm>
            <a:off x="8265131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$150</a:t>
            </a:r>
            <a:endParaRPr lang="en-US" sz="1690" dirty="0"/>
          </a:p>
        </p:txBody>
      </p:sp>
      <p:sp>
        <p:nvSpPr>
          <p:cNvPr id="83" name="Text 77"/>
          <p:cNvSpPr/>
          <p:nvPr/>
        </p:nvSpPr>
        <p:spPr>
          <a:xfrm>
            <a:off x="6899077" y="1667768"/>
            <a:ext cx="190870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WRISTBAND SET</a:t>
            </a:r>
            <a:endParaRPr lang="en-US" sz="730" dirty="0"/>
          </a:p>
        </p:txBody>
      </p:sp>
      <p:sp>
        <p:nvSpPr>
          <p:cNvPr id="84" name="Text 78"/>
          <p:cNvSpPr/>
          <p:nvPr/>
        </p:nvSpPr>
        <p:spPr>
          <a:xfrm>
            <a:off x="6899077" y="1863923"/>
            <a:ext cx="1735187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9"/>
          <p:cNvSpPr/>
          <p:nvPr/>
        </p:nvSpPr>
        <p:spPr>
          <a:xfrm>
            <a:off x="6899077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80"/>
          <p:cNvSpPr/>
          <p:nvPr/>
        </p:nvSpPr>
        <p:spPr>
          <a:xfrm>
            <a:off x="6971407" y="1928664"/>
            <a:ext cx="110668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leather wristband</a:t>
            </a:r>
            <a:endParaRPr lang="en-US" sz="680" dirty="0"/>
          </a:p>
        </p:txBody>
      </p:sp>
      <p:sp>
        <p:nvSpPr>
          <p:cNvPr id="87" name="Text 81"/>
          <p:cNvSpPr/>
          <p:nvPr/>
        </p:nvSpPr>
        <p:spPr>
          <a:xfrm>
            <a:off x="6899077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82"/>
          <p:cNvSpPr/>
          <p:nvPr/>
        </p:nvSpPr>
        <p:spPr>
          <a:xfrm>
            <a:off x="6971407" y="2089249"/>
            <a:ext cx="1185758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sport band included</a:t>
            </a:r>
            <a:endParaRPr lang="en-US" sz="680" dirty="0"/>
          </a:p>
        </p:txBody>
      </p:sp>
      <p:sp>
        <p:nvSpPr>
          <p:cNvPr id="89" name="Text 83"/>
          <p:cNvSpPr/>
          <p:nvPr/>
        </p:nvSpPr>
        <p:spPr>
          <a:xfrm>
            <a:off x="6899077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84"/>
          <p:cNvSpPr/>
          <p:nvPr/>
        </p:nvSpPr>
        <p:spPr>
          <a:xfrm>
            <a:off x="6971407" y="2249835"/>
            <a:ext cx="834435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debossed logo</a:t>
            </a:r>
            <a:endParaRPr lang="en-US" sz="680" dirty="0"/>
          </a:p>
        </p:txBody>
      </p:sp>
      <p:sp>
        <p:nvSpPr>
          <p:cNvPr id="91" name="Text 85"/>
          <p:cNvSpPr/>
          <p:nvPr/>
        </p:nvSpPr>
        <p:spPr>
          <a:xfrm>
            <a:off x="6899077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6"/>
          <p:cNvSpPr/>
          <p:nvPr/>
        </p:nvSpPr>
        <p:spPr>
          <a:xfrm>
            <a:off x="6971407" y="2410420"/>
            <a:ext cx="85375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hardware snap</a:t>
            </a:r>
            <a:endParaRPr lang="en-US" sz="680" dirty="0"/>
          </a:p>
        </p:txBody>
      </p:sp>
      <p:sp>
        <p:nvSpPr>
          <p:cNvPr id="93" name="Text 87"/>
          <p:cNvSpPr/>
          <p:nvPr/>
        </p:nvSpPr>
        <p:spPr>
          <a:xfrm>
            <a:off x="6899077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88"/>
          <p:cNvSpPr/>
          <p:nvPr/>
        </p:nvSpPr>
        <p:spPr>
          <a:xfrm>
            <a:off x="6971407" y="2571006"/>
            <a:ext cx="1048569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Dual-band set · One size</a:t>
            </a:r>
            <a:endParaRPr lang="en-US" sz="680" dirty="0"/>
          </a:p>
        </p:txBody>
      </p:sp>
      <p:sp>
        <p:nvSpPr>
          <p:cNvPr id="95" name="Text 89"/>
          <p:cNvSpPr/>
          <p:nvPr/>
        </p:nvSpPr>
        <p:spPr>
          <a:xfrm>
            <a:off x="6899077" y="4154537"/>
            <a:ext cx="1769891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· SML-ACC-004</a:t>
            </a:r>
            <a:endParaRPr lang="en-US" sz="560" dirty="0"/>
          </a:p>
        </p:txBody>
      </p:sp>
      <p:sp>
        <p:nvSpPr>
          <p:cNvPr id="96" name="Text 90"/>
          <p:cNvSpPr/>
          <p:nvPr/>
        </p:nvSpPr>
        <p:spPr>
          <a:xfrm>
            <a:off x="6899077" y="4154537"/>
            <a:ext cx="1735187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7" name="Image 4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1937" y="4673361"/>
            <a:ext cx="132588" cy="132588"/>
          </a:xfrm>
          <a:prstGeom prst="rect">
            <a:avLst/>
          </a:prstGeom>
        </p:spPr>
      </p:pic>
      <p:sp>
        <p:nvSpPr>
          <p:cNvPr id="98" name="Text 91"/>
          <p:cNvSpPr/>
          <p:nvPr/>
        </p:nvSpPr>
        <p:spPr>
          <a:xfrm>
            <a:off x="618232" y="4686300"/>
            <a:ext cx="31021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ACCESSORIES COLLECTION 2026</a:t>
            </a:r>
            <a:endParaRPr lang="en-US" sz="560" dirty="0"/>
          </a:p>
        </p:txBody>
      </p:sp>
      <p:sp>
        <p:nvSpPr>
          <p:cNvPr id="99" name="Text 92"/>
          <p:cNvSpPr/>
          <p:nvPr/>
        </p:nvSpPr>
        <p:spPr>
          <a:xfrm>
            <a:off x="7161178" y="4593729"/>
            <a:ext cx="74799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RANGE</a:t>
            </a:r>
            <a:endParaRPr lang="en-US" sz="560" dirty="0"/>
          </a:p>
        </p:txBody>
      </p:sp>
      <p:sp>
        <p:nvSpPr>
          <p:cNvPr id="100" name="Text 93"/>
          <p:cNvSpPr/>
          <p:nvPr/>
        </p:nvSpPr>
        <p:spPr>
          <a:xfrm>
            <a:off x="7161178" y="4714280"/>
            <a:ext cx="74799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$150 — $650</a:t>
            </a:r>
            <a:endParaRPr lang="en-US" sz="900" dirty="0"/>
          </a:p>
        </p:txBody>
      </p:sp>
      <p:sp>
        <p:nvSpPr>
          <p:cNvPr id="101" name="Text 94"/>
          <p:cNvSpPr/>
          <p:nvPr/>
        </p:nvSpPr>
        <p:spPr>
          <a:xfrm>
            <a:off x="8080623" y="4639419"/>
            <a:ext cx="7590" cy="20062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2" name="Text 95"/>
          <p:cNvSpPr/>
          <p:nvPr/>
        </p:nvSpPr>
        <p:spPr>
          <a:xfrm>
            <a:off x="8208437" y="4593729"/>
            <a:ext cx="56349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560" dirty="0"/>
          </a:p>
        </p:txBody>
      </p:sp>
      <p:sp>
        <p:nvSpPr>
          <p:cNvPr id="103" name="Text 96"/>
          <p:cNvSpPr/>
          <p:nvPr/>
        </p:nvSpPr>
        <p:spPr>
          <a:xfrm>
            <a:off x="8208437" y="4714280"/>
            <a:ext cx="5634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ITEMS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000000">
                  <a:alpha val="8000"/>
                </a:srgbClr>
              </a:gs>
              <a:gs pos="100000">
                <a:srgbClr val="000000">
                  <a:alpha val="800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75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09297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6113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00277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77099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691264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5" y="1122759"/>
            <a:ext cx="2771477" cy="383976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FFF5DC">
                  <a:alpha val="18000"/>
                </a:srgbClr>
              </a:gs>
              <a:gs pos="40000">
                <a:srgbClr val="FFF5D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85000" r="50000" b="1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60000">
                <a:srgbClr val="111111"/>
              </a:gs>
              <a:gs pos="100000">
                <a:srgbClr val="080808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8C28">
                  <a:alpha val="12000"/>
                </a:srgbClr>
              </a:gs>
              <a:gs pos="65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B47814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40000" t="40000" r="60000" b="6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A0A08"/>
              </a:gs>
              <a:gs pos="50000">
                <a:srgbClr val="0F0E0A"/>
              </a:gs>
              <a:gs pos="100000">
                <a:srgbClr val="080808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 rot="-480000">
            <a:off x="295274" y="2082701"/>
            <a:ext cx="1247032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FF3CB4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 rot="180000">
            <a:off x="849512" y="2581870"/>
            <a:ext cx="1662855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A0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 rot="-300000">
            <a:off x="295275" y="3234630"/>
            <a:ext cx="831353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FF8C00">
                  <a:alpha val="1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 rot="360000">
            <a:off x="1958283" y="1698725"/>
            <a:ext cx="110846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0FFC8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 rot="-180000">
            <a:off x="572395" y="3733800"/>
            <a:ext cx="1385735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83CFF">
                  <a:alpha val="1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295275" y="1122759"/>
            <a:ext cx="2771477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25000"/>
                </a:srgbClr>
              </a:gs>
              <a:gs pos="40000">
                <a:srgbClr val="080808">
                  <a:alpha val="10000"/>
                </a:srgbClr>
              </a:gs>
              <a:gs pos="75000">
                <a:srgbClr val="080808">
                  <a:alpha val="65000"/>
                </a:srgbClr>
              </a:gs>
              <a:gs pos="100000">
                <a:srgbClr val="080808">
                  <a:alpha val="9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95275" y="1122759"/>
            <a:ext cx="2771477" cy="3839766"/>
          </a:xfrm>
          <a:prstGeom prst="rect">
            <a:avLst/>
          </a:prstGeom>
          <a:gradFill rotWithShape="1">
            <a:gsLst>
              <a:gs pos="0">
                <a:srgbClr val="140A00">
                  <a:alpha val="50000"/>
                </a:srgbClr>
              </a:gs>
              <a:gs pos="100000">
                <a:srgbClr val="C9A84C">
                  <a:alpha val="4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86038" y="1122759"/>
            <a:ext cx="2771626" cy="383976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FFF0C8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30000"/>
                </a:srgbClr>
              </a:gs>
              <a:gs pos="35000">
                <a:srgbClr val="080808">
                  <a:alpha val="10000"/>
                </a:srgbClr>
              </a:gs>
              <a:gs pos="72000">
                <a:srgbClr val="080808">
                  <a:alpha val="65000"/>
                </a:srgbClr>
              </a:gs>
              <a:gs pos="10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8C28">
                  <a:alpha val="6000"/>
                </a:srgbClr>
              </a:gs>
              <a:gs pos="40000">
                <a:srgbClr val="080808">
                  <a:alpha val="0"/>
                </a:srgbClr>
              </a:gs>
              <a:gs pos="80000">
                <a:srgbClr val="B46414">
                  <a:alpha val="4000"/>
                </a:srgbClr>
              </a:gs>
              <a:gs pos="100000">
                <a:srgbClr val="080808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20000"/>
                </a:srgbClr>
              </a:gs>
              <a:gs pos="38000">
                <a:srgbClr val="080808">
                  <a:alpha val="8000"/>
                </a:srgbClr>
              </a:gs>
              <a:gs pos="70000">
                <a:srgbClr val="080808">
                  <a:alpha val="60000"/>
                </a:srgbClr>
              </a:gs>
              <a:gs pos="100000">
                <a:srgbClr val="080808">
                  <a:alpha val="9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100000">
                <a:srgbClr val="080808">
                  <a:alpha val="50000"/>
                </a:srgbClr>
              </a:gs>
            </a:gsLst>
            <a:lin ang="81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20056" y="3712666"/>
            <a:ext cx="321915" cy="642938"/>
          </a:xfrm>
          <a:prstGeom prst="rect">
            <a:avLst/>
          </a:prstGeom>
        </p:spPr>
      </p:pic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6101" y="3797647"/>
            <a:ext cx="257175" cy="536228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00426" y="3797647"/>
            <a:ext cx="257175" cy="53622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077099" y="2850654"/>
            <a:ext cx="277162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5000">
                <a:srgbClr val="C9A84C">
                  <a:alpha val="20000"/>
                </a:srgbClr>
              </a:gs>
              <a:gs pos="50000">
                <a:srgbClr val="FFB43C">
                  <a:alpha val="30000"/>
                </a:srgbClr>
              </a:gs>
              <a:gs pos="75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>
            <a:alphaModFix amt="10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77099" y="4010025"/>
            <a:ext cx="2771626" cy="3810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85750" y="1113234"/>
            <a:ext cx="2790527" cy="3858816"/>
          </a:xfrm>
          <a:prstGeom prst="rect">
            <a:avLst/>
          </a:prstGeom>
          <a:gradFill rotWithShape="1">
            <a:gsLst>
              <a:gs pos="0">
                <a:srgbClr val="0A0A12"/>
              </a:gs>
              <a:gs pos="40000">
                <a:srgbClr val="0F0F0F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7"/>
          <p:cNvSpPr/>
          <p:nvPr/>
        </p:nvSpPr>
        <p:spPr>
          <a:xfrm>
            <a:off x="3176588" y="1113234"/>
            <a:ext cx="2790676" cy="3858816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50000">
                <a:srgbClr val="111111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8"/>
          <p:cNvSpPr/>
          <p:nvPr/>
        </p:nvSpPr>
        <p:spPr>
          <a:xfrm>
            <a:off x="6067574" y="1113234"/>
            <a:ext cx="2790676" cy="3858816"/>
          </a:xfrm>
          <a:prstGeom prst="rect">
            <a:avLst/>
          </a:prstGeom>
          <a:gradFill rotWithShape="1">
            <a:gsLst>
              <a:gs pos="0">
                <a:srgbClr val="0C0A08"/>
              </a:gs>
              <a:gs pos="40000">
                <a:srgbClr val="0F0E08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295275" y="1122759"/>
            <a:ext cx="2771477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295275" y="4940945"/>
            <a:ext cx="2771477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3186113" y="1122759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3186113" y="4940945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6077099" y="1122759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4"/>
          <p:cNvSpPr/>
          <p:nvPr/>
        </p:nvSpPr>
        <p:spPr>
          <a:xfrm>
            <a:off x="6077099" y="4940945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3268414" y="200620"/>
            <a:ext cx="286772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79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44" name="Text 36"/>
          <p:cNvSpPr/>
          <p:nvPr/>
        </p:nvSpPr>
        <p:spPr>
          <a:xfrm>
            <a:off x="3003947" y="361801"/>
            <a:ext cx="329275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kern="0" spc="102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LIFESTYLE</a:t>
            </a:r>
            <a:endParaRPr lang="en-US" sz="2930" dirty="0"/>
          </a:p>
        </p:txBody>
      </p:sp>
      <p:sp>
        <p:nvSpPr>
          <p:cNvPr id="45" name="Text 37"/>
          <p:cNvSpPr/>
          <p:nvPr/>
        </p:nvSpPr>
        <p:spPr>
          <a:xfrm>
            <a:off x="3429000" y="804863"/>
            <a:ext cx="2286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8"/>
          <p:cNvSpPr/>
          <p:nvPr/>
        </p:nvSpPr>
        <p:spPr>
          <a:xfrm>
            <a:off x="3279130" y="855613"/>
            <a:ext cx="284431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9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WORN BY LEGENDS. SEEN EVERYWHERE.</a:t>
            </a:r>
            <a:endParaRPr lang="en-US" sz="680" dirty="0"/>
          </a:p>
        </p:txBody>
      </p:sp>
      <p:sp>
        <p:nvSpPr>
          <p:cNvPr id="47" name="Text 39"/>
          <p:cNvSpPr/>
          <p:nvPr/>
        </p:nvSpPr>
        <p:spPr>
          <a:xfrm>
            <a:off x="423416" y="4360069"/>
            <a:ext cx="109047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URBAN NIGHT — I</a:t>
            </a:r>
            <a:endParaRPr lang="en-US" sz="560" dirty="0"/>
          </a:p>
        </p:txBody>
      </p:sp>
      <p:sp>
        <p:nvSpPr>
          <p:cNvPr id="48" name="Text 40"/>
          <p:cNvSpPr/>
          <p:nvPr/>
        </p:nvSpPr>
        <p:spPr>
          <a:xfrm>
            <a:off x="423416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1"/>
          <p:cNvSpPr/>
          <p:nvPr/>
        </p:nvSpPr>
        <p:spPr>
          <a:xfrm>
            <a:off x="423416" y="4561582"/>
            <a:ext cx="2013317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STREETS KNOW</a:t>
            </a:r>
            <a:endParaRPr lang="en-US" sz="1010" dirty="0"/>
          </a:p>
        </p:txBody>
      </p:sp>
      <p:sp>
        <p:nvSpPr>
          <p:cNvPr id="50" name="Text 42"/>
          <p:cNvSpPr/>
          <p:nvPr/>
        </p:nvSpPr>
        <p:spPr>
          <a:xfrm>
            <a:off x="423416" y="4738092"/>
            <a:ext cx="2596455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 TRACKSUIT · GOLD CHAIN · NEON CITY</a:t>
            </a:r>
            <a:endParaRPr lang="en-US" sz="620" dirty="0"/>
          </a:p>
        </p:txBody>
      </p:sp>
      <p:sp>
        <p:nvSpPr>
          <p:cNvPr id="51" name="Text 43"/>
          <p:cNvSpPr/>
          <p:nvPr/>
        </p:nvSpPr>
        <p:spPr>
          <a:xfrm>
            <a:off x="3314254" y="4360069"/>
            <a:ext cx="124207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STUDIO POWER — II</a:t>
            </a:r>
            <a:endParaRPr lang="en-US" sz="560" dirty="0"/>
          </a:p>
        </p:txBody>
      </p:sp>
      <p:sp>
        <p:nvSpPr>
          <p:cNvPr id="52" name="Text 44"/>
          <p:cNvSpPr/>
          <p:nvPr/>
        </p:nvSpPr>
        <p:spPr>
          <a:xfrm>
            <a:off x="3314254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3314254" y="4561582"/>
            <a:ext cx="1745650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BUILT DIFFERENT</a:t>
            </a:r>
            <a:endParaRPr lang="en-US" sz="1010" dirty="0"/>
          </a:p>
        </p:txBody>
      </p:sp>
      <p:sp>
        <p:nvSpPr>
          <p:cNvPr id="54" name="Text 46"/>
          <p:cNvSpPr/>
          <p:nvPr/>
        </p:nvSpPr>
        <p:spPr>
          <a:xfrm>
            <a:off x="3314254" y="4738092"/>
            <a:ext cx="2721858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SETS · TRAINING GYM · OVERHEAD LIGHT</a:t>
            </a:r>
            <a:endParaRPr lang="en-US" sz="620" dirty="0"/>
          </a:p>
        </p:txBody>
      </p:sp>
      <p:sp>
        <p:nvSpPr>
          <p:cNvPr id="55" name="Text 47"/>
          <p:cNvSpPr/>
          <p:nvPr/>
        </p:nvSpPr>
        <p:spPr>
          <a:xfrm>
            <a:off x="6205240" y="4360069"/>
            <a:ext cx="142723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LUXURY RETREAT — III</a:t>
            </a:r>
            <a:endParaRPr lang="en-US" sz="560" dirty="0"/>
          </a:p>
        </p:txBody>
      </p:sp>
      <p:sp>
        <p:nvSpPr>
          <p:cNvPr id="56" name="Text 48"/>
          <p:cNvSpPr/>
          <p:nvPr/>
        </p:nvSpPr>
        <p:spPr>
          <a:xfrm>
            <a:off x="6205240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6205240" y="4561582"/>
            <a:ext cx="196387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EARNED NOT GIVEN</a:t>
            </a:r>
            <a:endParaRPr lang="en-US" sz="1010" dirty="0"/>
          </a:p>
        </p:txBody>
      </p:sp>
      <p:sp>
        <p:nvSpPr>
          <p:cNvPr id="58" name="Text 50"/>
          <p:cNvSpPr/>
          <p:nvPr/>
        </p:nvSpPr>
        <p:spPr>
          <a:xfrm>
            <a:off x="6205240" y="4738092"/>
            <a:ext cx="2765896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HOODIE · GOLD WATCH · SUNSET BACKDROP</a:t>
            </a:r>
            <a:endParaRPr lang="en-US" sz="620" dirty="0"/>
          </a:p>
        </p:txBody>
      </p:sp>
      <p:sp>
        <p:nvSpPr>
          <p:cNvPr id="59" name="Text 51"/>
          <p:cNvSpPr/>
          <p:nvPr/>
        </p:nvSpPr>
        <p:spPr>
          <a:xfrm>
            <a:off x="400050" y="772120"/>
            <a:ext cx="83439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381595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560" dirty="0"/>
          </a:p>
        </p:txBody>
      </p:sp>
      <p:sp>
        <p:nvSpPr>
          <p:cNvPr id="61" name="Text 53"/>
          <p:cNvSpPr/>
          <p:nvPr/>
        </p:nvSpPr>
        <p:spPr>
          <a:xfrm>
            <a:off x="2788890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71995" y="1175974"/>
            <a:ext cx="132588" cy="132588"/>
          </a:xfrm>
          <a:prstGeom prst="rect">
            <a:avLst/>
          </a:prstGeom>
        </p:spPr>
      </p:pic>
      <p:sp>
        <p:nvSpPr>
          <p:cNvPr id="63" name="Text 54"/>
          <p:cNvSpPr/>
          <p:nvPr/>
        </p:nvSpPr>
        <p:spPr>
          <a:xfrm>
            <a:off x="3272433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560" dirty="0"/>
          </a:p>
        </p:txBody>
      </p:sp>
      <p:sp>
        <p:nvSpPr>
          <p:cNvPr id="64" name="Text 55"/>
          <p:cNvSpPr/>
          <p:nvPr/>
        </p:nvSpPr>
        <p:spPr>
          <a:xfrm>
            <a:off x="5679877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62981" y="1175974"/>
            <a:ext cx="132588" cy="132588"/>
          </a:xfrm>
          <a:prstGeom prst="rect">
            <a:avLst/>
          </a:prstGeom>
        </p:spPr>
      </p:pic>
      <p:sp>
        <p:nvSpPr>
          <p:cNvPr id="66" name="Text 56"/>
          <p:cNvSpPr/>
          <p:nvPr/>
        </p:nvSpPr>
        <p:spPr>
          <a:xfrm>
            <a:off x="6163419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560" dirty="0"/>
          </a:p>
        </p:txBody>
      </p:sp>
      <p:sp>
        <p:nvSpPr>
          <p:cNvPr id="67" name="Text 57"/>
          <p:cNvSpPr/>
          <p:nvPr/>
        </p:nvSpPr>
        <p:spPr>
          <a:xfrm>
            <a:off x="8570863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53967" y="1175974"/>
            <a:ext cx="132588" cy="132588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0" y="4989314"/>
            <a:ext cx="10058400" cy="154186"/>
          </a:xfrm>
          <a:prstGeom prst="rect">
            <a:avLst/>
          </a:prstGeom>
          <a:noFill/>
          <a:ln/>
        </p:spPr>
        <p:txBody>
          <a:bodyPr wrap="none" lIns="0" tIns="0" rIns="0" bIns="5715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510" kern="0" spc="204" dirty="0">
                <a:solidFill>
                  <a:srgbClr val="8B7A4A">
                    <a:alpha val="4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LIFESTYLE · 2026</a:t>
            </a:r>
            <a:endParaRPr lang="en-US" sz="1200" dirty="0"/>
          </a:p>
        </p:txBody>
      </p:sp>
      <p:sp>
        <p:nvSpPr>
          <p:cNvPr id="70" name="Text 59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5000"/>
                </a:srgbClr>
              </a:gs>
              <a:gs pos="7000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0"/>
          <p:cNvSpPr/>
          <p:nvPr/>
        </p:nvSpPr>
        <p:spPr>
          <a:xfrm>
            <a:off x="912242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5000"/>
                </a:srgbClr>
              </a:gs>
              <a:gs pos="7000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077373" y="271760"/>
            <a:ext cx="177928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5400" b="1" kern="0" spc="648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29220" y="271760"/>
            <a:ext cx="911411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98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29220" y="432941"/>
            <a:ext cx="8865549" cy="242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10"/>
              </a:lnSpc>
              <a:buNone/>
            </a:pPr>
            <a:r>
              <a:rPr lang="en-US" sz="1910" kern="0" spc="34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SPECS</a:t>
            </a:r>
            <a:endParaRPr lang="en-US" sz="1910" dirty="0"/>
          </a:p>
        </p:txBody>
      </p:sp>
      <p:sp>
        <p:nvSpPr>
          <p:cNvPr id="8" name="Text 6"/>
          <p:cNvSpPr/>
          <p:nvPr/>
        </p:nvSpPr>
        <p:spPr>
          <a:xfrm>
            <a:off x="429220" y="732681"/>
            <a:ext cx="200025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220" y="775692"/>
            <a:ext cx="911411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5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QUALITY IS NOT AN OPTION — IT IS THE STANDARD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429220" y="1057870"/>
            <a:ext cx="1393924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66886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2439" y="1258797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66886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FABRIC SOURCING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66886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53246" y="1781919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ring-spun combed cotton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653246" y="2040285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French terry for fleece items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653246" y="2298650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nylon/poly blend for performance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53246" y="2557016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fabrics OEKO-TEX certified</a:t>
            </a:r>
            <a:endParaRPr lang="en-US" sz="6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2962" y="2910492"/>
            <a:ext cx="132588" cy="1325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67048" y="2908102"/>
            <a:ext cx="966490" cy="151105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1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OEKO-TEX CERTIFIED</a:t>
            </a:r>
            <a:endParaRPr lang="en-US" sz="51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1231" y="2848282"/>
            <a:ext cx="132588" cy="1325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152055" y="1057870"/>
            <a:ext cx="1394073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2289721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5274" y="1258797"/>
            <a:ext cx="132588" cy="1325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2289721" y="1525786"/>
            <a:ext cx="1230615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CUT &amp; PATTERN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2289721" y="1703338"/>
            <a:ext cx="1118741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2376081" y="1781919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patterns graded in-house</a:t>
            </a:r>
            <a:endParaRPr lang="en-US" sz="650" dirty="0"/>
          </a:p>
        </p:txBody>
      </p:sp>
      <p:sp>
        <p:nvSpPr>
          <p:cNvPr id="28" name="Text 22"/>
          <p:cNvSpPr/>
          <p:nvPr/>
        </p:nvSpPr>
        <p:spPr>
          <a:xfrm>
            <a:off x="2376081" y="1928813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laser cutting for consistency</a:t>
            </a:r>
            <a:endParaRPr lang="en-US" sz="650" dirty="0"/>
          </a:p>
        </p:txBody>
      </p:sp>
      <p:sp>
        <p:nvSpPr>
          <p:cNvPr id="29" name="Text 23"/>
          <p:cNvSpPr/>
          <p:nvPr/>
        </p:nvSpPr>
        <p:spPr>
          <a:xfrm>
            <a:off x="2376081" y="2187178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Stress-point reinforcement at all seams</a:t>
            </a:r>
            <a:endParaRPr lang="en-US" sz="650" dirty="0"/>
          </a:p>
        </p:txBody>
      </p:sp>
      <p:sp>
        <p:nvSpPr>
          <p:cNvPr id="30" name="Text 24"/>
          <p:cNvSpPr/>
          <p:nvPr/>
        </p:nvSpPr>
        <p:spPr>
          <a:xfrm>
            <a:off x="2376081" y="2445544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graded XS through 4XL</a:t>
            </a:r>
            <a:endParaRPr lang="en-US" sz="6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4214" y="2848282"/>
            <a:ext cx="132588" cy="13258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875038" y="1057870"/>
            <a:ext cx="1393924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012704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18257" y="1258797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012704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CONSTRUCTION</a:t>
            </a:r>
            <a:endParaRPr lang="en-US" sz="700" dirty="0"/>
          </a:p>
        </p:txBody>
      </p:sp>
      <p:sp>
        <p:nvSpPr>
          <p:cNvPr id="36" name="Text 28"/>
          <p:cNvSpPr/>
          <p:nvPr/>
        </p:nvSpPr>
        <p:spPr>
          <a:xfrm>
            <a:off x="4012704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4099064" y="1781919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Triple-stitched main seams</a:t>
            </a:r>
            <a:endParaRPr lang="en-US" sz="650" dirty="0"/>
          </a:p>
        </p:txBody>
      </p:sp>
      <p:sp>
        <p:nvSpPr>
          <p:cNvPr id="38" name="Text 30"/>
          <p:cNvSpPr/>
          <p:nvPr/>
        </p:nvSpPr>
        <p:spPr>
          <a:xfrm>
            <a:off x="4099064" y="1928813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Flatlock joining on all activewear</a:t>
            </a:r>
            <a:endParaRPr lang="en-US" sz="650" dirty="0"/>
          </a:p>
        </p:txBody>
      </p:sp>
      <p:sp>
        <p:nvSpPr>
          <p:cNvPr id="39" name="Text 31"/>
          <p:cNvSpPr/>
          <p:nvPr/>
        </p:nvSpPr>
        <p:spPr>
          <a:xfrm>
            <a:off x="4099064" y="2187178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Bar-tacked pocket entries</a:t>
            </a:r>
            <a:endParaRPr lang="en-US" sz="650" dirty="0"/>
          </a:p>
        </p:txBody>
      </p:sp>
      <p:sp>
        <p:nvSpPr>
          <p:cNvPr id="40" name="Text 32"/>
          <p:cNvSpPr/>
          <p:nvPr/>
        </p:nvSpPr>
        <p:spPr>
          <a:xfrm>
            <a:off x="4099064" y="2334071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Heavy-duty chain stitching on waistbands</a:t>
            </a:r>
            <a:endParaRPr lang="en-US" sz="650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67049" y="2848282"/>
            <a:ext cx="132588" cy="13258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597872" y="1057870"/>
            <a:ext cx="1394073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4"/>
          <p:cNvSpPr/>
          <p:nvPr/>
        </p:nvSpPr>
        <p:spPr>
          <a:xfrm>
            <a:off x="5735538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62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41091" y="1258797"/>
            <a:ext cx="132588" cy="13258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5735538" y="1525786"/>
            <a:ext cx="1230615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FINISHING</a:t>
            </a:r>
            <a:endParaRPr lang="en-US" sz="700" dirty="0"/>
          </a:p>
        </p:txBody>
      </p:sp>
      <p:sp>
        <p:nvSpPr>
          <p:cNvPr id="46" name="Text 36"/>
          <p:cNvSpPr/>
          <p:nvPr/>
        </p:nvSpPr>
        <p:spPr>
          <a:xfrm>
            <a:off x="5735538" y="1703338"/>
            <a:ext cx="1118741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7"/>
          <p:cNvSpPr/>
          <p:nvPr/>
        </p:nvSpPr>
        <p:spPr>
          <a:xfrm>
            <a:off x="5821898" y="1781919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Hand-finished embroidery detail</a:t>
            </a:r>
            <a:endParaRPr lang="en-US" sz="650" dirty="0"/>
          </a:p>
        </p:txBody>
      </p:sp>
      <p:sp>
        <p:nvSpPr>
          <p:cNvPr id="48" name="Text 38"/>
          <p:cNvSpPr/>
          <p:nvPr/>
        </p:nvSpPr>
        <p:spPr>
          <a:xfrm>
            <a:off x="5821898" y="2040285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Heat-transfer at 180°C for 12 seconds</a:t>
            </a:r>
            <a:endParaRPr lang="en-US" sz="650" dirty="0"/>
          </a:p>
        </p:txBody>
      </p:sp>
      <p:sp>
        <p:nvSpPr>
          <p:cNvPr id="49" name="Text 39"/>
          <p:cNvSpPr/>
          <p:nvPr/>
        </p:nvSpPr>
        <p:spPr>
          <a:xfrm>
            <a:off x="5821898" y="2298650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Woven label applied at neck</a:t>
            </a:r>
            <a:endParaRPr lang="en-US" sz="650" dirty="0"/>
          </a:p>
        </p:txBody>
      </p:sp>
      <p:sp>
        <p:nvSpPr>
          <p:cNvPr id="50" name="Text 40"/>
          <p:cNvSpPr/>
          <p:nvPr/>
        </p:nvSpPr>
        <p:spPr>
          <a:xfrm>
            <a:off x="5821898" y="2445544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hardware installed last</a:t>
            </a:r>
            <a:endParaRPr lang="en-US" sz="650" dirty="0"/>
          </a:p>
        </p:txBody>
      </p:sp>
      <p:pic>
        <p:nvPicPr>
          <p:cNvPr id="51" name="Image 8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90032" y="2848282"/>
            <a:ext cx="132588" cy="132588"/>
          </a:xfrm>
          <a:prstGeom prst="rect">
            <a:avLst/>
          </a:prstGeom>
        </p:spPr>
      </p:pic>
      <p:sp>
        <p:nvSpPr>
          <p:cNvPr id="52" name="Text 41"/>
          <p:cNvSpPr/>
          <p:nvPr/>
        </p:nvSpPr>
        <p:spPr>
          <a:xfrm>
            <a:off x="7320855" y="1057870"/>
            <a:ext cx="1393924" cy="3713559"/>
          </a:xfrm>
          <a:prstGeom prst="rect">
            <a:avLst/>
          </a:prstGeom>
          <a:gradFill rotWithShape="1">
            <a:gsLst>
              <a:gs pos="0">
                <a:srgbClr val="C9A84C">
                  <a:alpha val="10000"/>
                </a:srgbClr>
              </a:gs>
              <a:gs pos="55000">
                <a:srgbClr val="161616"/>
              </a:gs>
            </a:gsLst>
            <a:lin ang="4200000" scaled="1"/>
          </a:gra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2"/>
          <p:cNvSpPr/>
          <p:nvPr/>
        </p:nvSpPr>
        <p:spPr>
          <a:xfrm>
            <a:off x="7458521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b="1" kern="0" spc="34" dirty="0">
                <a:solidFill>
                  <a:srgbClr val="08080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560" dirty="0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64075" y="1258797"/>
            <a:ext cx="132588" cy="132588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7458521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QC INSPECTION</a:t>
            </a:r>
            <a:endParaRPr lang="en-US" sz="700" dirty="0"/>
          </a:p>
        </p:txBody>
      </p:sp>
      <p:sp>
        <p:nvSpPr>
          <p:cNvPr id="56" name="Text 44"/>
          <p:cNvSpPr/>
          <p:nvPr/>
        </p:nvSpPr>
        <p:spPr>
          <a:xfrm>
            <a:off x="7458521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5"/>
          <p:cNvSpPr/>
          <p:nvPr/>
        </p:nvSpPr>
        <p:spPr>
          <a:xfrm>
            <a:off x="7544882" y="1781919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27-point quality inspection per unit</a:t>
            </a:r>
            <a:endParaRPr lang="en-US" sz="650" dirty="0"/>
          </a:p>
        </p:txBody>
      </p:sp>
      <p:sp>
        <p:nvSpPr>
          <p:cNvPr id="58" name="Text 46"/>
          <p:cNvSpPr/>
          <p:nvPr/>
        </p:nvSpPr>
        <p:spPr>
          <a:xfrm>
            <a:off x="7544882" y="2040285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Wash-test conducted pre-shipment</a:t>
            </a:r>
            <a:endParaRPr lang="en-US" sz="650" dirty="0"/>
          </a:p>
        </p:txBody>
      </p:sp>
      <p:sp>
        <p:nvSpPr>
          <p:cNvPr id="59" name="Text 47"/>
          <p:cNvSpPr/>
          <p:nvPr/>
        </p:nvSpPr>
        <p:spPr>
          <a:xfrm>
            <a:off x="7544882" y="2298650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Colorfast rating: </a:t>
            </a:r>
            <a:r>
              <a:rPr lang="en-US" sz="6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/ 5</a:t>
            </a:r>
            <a:endParaRPr lang="en-US" sz="650" dirty="0"/>
          </a:p>
        </p:txBody>
      </p:sp>
      <p:sp>
        <p:nvSpPr>
          <p:cNvPr id="60" name="Text 48"/>
          <p:cNvSpPr/>
          <p:nvPr/>
        </p:nvSpPr>
        <p:spPr>
          <a:xfrm>
            <a:off x="7544882" y="2445544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Shrinkage under </a:t>
            </a:r>
            <a:r>
              <a:rPr lang="en-US" sz="6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guaranteed</a:t>
            </a:r>
            <a:endParaRPr lang="en-US" sz="650" dirty="0"/>
          </a:p>
        </p:txBody>
      </p:sp>
      <p:sp>
        <p:nvSpPr>
          <p:cNvPr id="61" name="Text 49"/>
          <p:cNvSpPr/>
          <p:nvPr/>
        </p:nvSpPr>
        <p:spPr>
          <a:xfrm>
            <a:off x="7458521" y="4256782"/>
            <a:ext cx="640464" cy="159246"/>
          </a:xfrm>
          <a:prstGeom prst="rect">
            <a:avLst/>
          </a:prstGeom>
          <a:solidFill>
            <a:srgbClr val="C9A84C">
              <a:alpha val="1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9530" tIns="21590" rIns="49530" bIns="21590" rtlCol="0" anchor="t"/>
          <a:lstStyle/>
          <a:p>
            <a:pPr marL="0" indent="0" algn="l">
              <a:buNone/>
            </a:pPr>
            <a:r>
              <a:rPr lang="en-US" sz="510" b="1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27-PT CHECK</a:t>
            </a:r>
            <a:endParaRPr lang="en-US" sz="510" dirty="0"/>
          </a:p>
        </p:txBody>
      </p:sp>
      <p:sp>
        <p:nvSpPr>
          <p:cNvPr id="62" name="Text 50"/>
          <p:cNvSpPr/>
          <p:nvPr/>
        </p:nvSpPr>
        <p:spPr>
          <a:xfrm>
            <a:off x="7458521" y="4459188"/>
            <a:ext cx="605093" cy="159246"/>
          </a:xfrm>
          <a:prstGeom prst="rect">
            <a:avLst/>
          </a:prstGeom>
          <a:solidFill>
            <a:srgbClr val="C9A84C">
              <a:alpha val="1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9530" tIns="21590" rIns="49530" bIns="21590" rtlCol="0" anchor="t"/>
          <a:lstStyle/>
          <a:p>
            <a:pPr marL="0" indent="0" algn="l">
              <a:buNone/>
            </a:pPr>
            <a:r>
              <a:rPr lang="en-US" sz="510" b="1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&lt;3% SHRINK</a:t>
            </a:r>
            <a:endParaRPr lang="en-US" sz="510" dirty="0"/>
          </a:p>
        </p:txBody>
      </p:sp>
      <p:sp>
        <p:nvSpPr>
          <p:cNvPr id="63" name="Text 51"/>
          <p:cNvSpPr/>
          <p:nvPr/>
        </p:nvSpPr>
        <p:spPr>
          <a:xfrm>
            <a:off x="0" y="4871740"/>
            <a:ext cx="914400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2"/>
          <p:cNvSpPr/>
          <p:nvPr/>
        </p:nvSpPr>
        <p:spPr>
          <a:xfrm>
            <a:off x="429220" y="4958953"/>
            <a:ext cx="269713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TECHNICAL STANDARDS</a:t>
            </a:r>
            <a:endParaRPr lang="en-US" sz="560" dirty="0"/>
          </a:p>
        </p:txBody>
      </p:sp>
      <p:sp>
        <p:nvSpPr>
          <p:cNvPr id="65" name="Text 53"/>
          <p:cNvSpPr/>
          <p:nvPr/>
        </p:nvSpPr>
        <p:spPr>
          <a:xfrm>
            <a:off x="4504134" y="5008513"/>
            <a:ext cx="200620" cy="7590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4"/>
          <p:cNvSpPr/>
          <p:nvPr/>
        </p:nvSpPr>
        <p:spPr>
          <a:xfrm>
            <a:off x="4761905" y="4958953"/>
            <a:ext cx="49080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>
                    <a:alpha val="5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67" name="Text 55"/>
          <p:cNvSpPr/>
          <p:nvPr/>
        </p:nvSpPr>
        <p:spPr>
          <a:xfrm>
            <a:off x="5265241" y="5008513"/>
            <a:ext cx="200620" cy="7590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6"/>
          <p:cNvSpPr/>
          <p:nvPr/>
        </p:nvSpPr>
        <p:spPr>
          <a:xfrm>
            <a:off x="7088684" y="4958953"/>
            <a:ext cx="178870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FOR EXCELLENCE</a:t>
            </a:r>
            <a:endParaRPr lang="en-US" sz="560" dirty="0"/>
          </a:p>
        </p:txBody>
      </p:sp>
      <p:sp>
        <p:nvSpPr>
          <p:cNvPr id="69" name="Text 57"/>
          <p:cNvSpPr/>
          <p:nvPr/>
        </p:nvSpPr>
        <p:spPr>
          <a:xfrm>
            <a:off x="438745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58"/>
          <p:cNvSpPr/>
          <p:nvPr/>
        </p:nvSpPr>
        <p:spPr>
          <a:xfrm>
            <a:off x="566886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59"/>
          <p:cNvSpPr/>
          <p:nvPr/>
        </p:nvSpPr>
        <p:spPr>
          <a:xfrm>
            <a:off x="566886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0"/>
          <p:cNvSpPr/>
          <p:nvPr/>
        </p:nvSpPr>
        <p:spPr>
          <a:xfrm>
            <a:off x="566886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1"/>
          <p:cNvSpPr/>
          <p:nvPr/>
        </p:nvSpPr>
        <p:spPr>
          <a:xfrm>
            <a:off x="566886" y="2606546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62"/>
          <p:cNvSpPr/>
          <p:nvPr/>
        </p:nvSpPr>
        <p:spPr>
          <a:xfrm>
            <a:off x="2161580" y="1067395"/>
            <a:ext cx="1375019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3"/>
          <p:cNvSpPr/>
          <p:nvPr/>
        </p:nvSpPr>
        <p:spPr>
          <a:xfrm>
            <a:off x="2289721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64"/>
          <p:cNvSpPr/>
          <p:nvPr/>
        </p:nvSpPr>
        <p:spPr>
          <a:xfrm>
            <a:off x="2289721" y="1978343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65"/>
          <p:cNvSpPr/>
          <p:nvPr/>
        </p:nvSpPr>
        <p:spPr>
          <a:xfrm>
            <a:off x="2289721" y="2236708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66"/>
          <p:cNvSpPr/>
          <p:nvPr/>
        </p:nvSpPr>
        <p:spPr>
          <a:xfrm>
            <a:off x="2289721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67"/>
          <p:cNvSpPr/>
          <p:nvPr/>
        </p:nvSpPr>
        <p:spPr>
          <a:xfrm>
            <a:off x="3884563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68"/>
          <p:cNvSpPr/>
          <p:nvPr/>
        </p:nvSpPr>
        <p:spPr>
          <a:xfrm>
            <a:off x="4012704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69"/>
          <p:cNvSpPr/>
          <p:nvPr/>
        </p:nvSpPr>
        <p:spPr>
          <a:xfrm>
            <a:off x="4012704" y="1978343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70"/>
          <p:cNvSpPr/>
          <p:nvPr/>
        </p:nvSpPr>
        <p:spPr>
          <a:xfrm>
            <a:off x="4012704" y="2236708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71"/>
          <p:cNvSpPr/>
          <p:nvPr/>
        </p:nvSpPr>
        <p:spPr>
          <a:xfrm>
            <a:off x="4012704" y="2383601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72"/>
          <p:cNvSpPr/>
          <p:nvPr/>
        </p:nvSpPr>
        <p:spPr>
          <a:xfrm>
            <a:off x="5607397" y="1067395"/>
            <a:ext cx="1375019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3"/>
          <p:cNvSpPr/>
          <p:nvPr/>
        </p:nvSpPr>
        <p:spPr>
          <a:xfrm>
            <a:off x="5735538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74"/>
          <p:cNvSpPr/>
          <p:nvPr/>
        </p:nvSpPr>
        <p:spPr>
          <a:xfrm>
            <a:off x="5735538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75"/>
          <p:cNvSpPr/>
          <p:nvPr/>
        </p:nvSpPr>
        <p:spPr>
          <a:xfrm>
            <a:off x="5735538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76"/>
          <p:cNvSpPr/>
          <p:nvPr/>
        </p:nvSpPr>
        <p:spPr>
          <a:xfrm>
            <a:off x="5735538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7"/>
          <p:cNvSpPr/>
          <p:nvPr/>
        </p:nvSpPr>
        <p:spPr>
          <a:xfrm>
            <a:off x="7330380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78"/>
          <p:cNvSpPr/>
          <p:nvPr/>
        </p:nvSpPr>
        <p:spPr>
          <a:xfrm>
            <a:off x="7458521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79"/>
          <p:cNvSpPr/>
          <p:nvPr/>
        </p:nvSpPr>
        <p:spPr>
          <a:xfrm>
            <a:off x="7458521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0"/>
          <p:cNvSpPr/>
          <p:nvPr/>
        </p:nvSpPr>
        <p:spPr>
          <a:xfrm>
            <a:off x="7458521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81"/>
          <p:cNvSpPr/>
          <p:nvPr/>
        </p:nvSpPr>
        <p:spPr>
          <a:xfrm>
            <a:off x="7458521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143470" y="3643610"/>
            <a:ext cx="3187898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0"/>
              </a:lnSpc>
              <a:buNone/>
            </a:pPr>
            <a:r>
              <a:rPr lang="en-US" sz="9000" kern="0" spc="1800" dirty="0">
                <a:solidFill>
                  <a:srgbClr val="C9A84C">
                    <a:alpha val="2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9575" y="1060698"/>
            <a:ext cx="2695280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238202" y="1060698"/>
            <a:ext cx="2695423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6979" y="1060698"/>
            <a:ext cx="2695280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257770"/>
            <a:ext cx="1881771" cy="159246"/>
          </a:xfrm>
          <a:prstGeom prst="roundRect">
            <a:avLst>
              <a:gd name="adj" fmla="val 8773"/>
            </a:avLst>
          </a:prstGeom>
          <a:solidFill>
            <a:srgbClr val="C9A84C">
              <a:alpha val="8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lIns="167580" tIns="21590" rIns="71120" bIns="21590" rtlCol="0" anchor="ctr"/>
          <a:lstStyle/>
          <a:p>
            <a:pPr marL="0" indent="0" algn="l">
              <a:buNone/>
            </a:pPr>
            <a:r>
              <a:rPr lang="en-US" sz="510" kern="0" spc="10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IDENTITY SYSTEM · SML 2026</a:t>
            </a:r>
            <a:endParaRPr lang="en-US" sz="51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912" y="271099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00050" y="474166"/>
            <a:ext cx="4168107" cy="254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5"/>
              </a:lnSpc>
              <a:spcBef>
                <a:spcPts val="450"/>
              </a:spcBef>
              <a:buNone/>
            </a:pPr>
            <a:r>
              <a:rPr lang="en-US" sz="1910" kern="0" spc="30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IDENTITY SYSTEM</a:t>
            </a:r>
            <a:endParaRPr lang="en-US" sz="1910" dirty="0"/>
          </a:p>
        </p:txBody>
      </p:sp>
      <p:sp>
        <p:nvSpPr>
          <p:cNvPr id="11" name="Text 8"/>
          <p:cNvSpPr/>
          <p:nvPr/>
        </p:nvSpPr>
        <p:spPr>
          <a:xfrm>
            <a:off x="400050" y="825103"/>
            <a:ext cx="299591" cy="759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85961" y="764232"/>
            <a:ext cx="263672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3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VISUAL DNA OF SELF MADE LEGENDS</a:t>
            </a:r>
            <a:endParaRPr lang="en-US" sz="68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8184" y="286941"/>
            <a:ext cx="203746" cy="20374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0050" y="1051173"/>
            <a:ext cx="2714327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523875" y="1188839"/>
            <a:ext cx="271334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560" dirty="0"/>
          </a:p>
        </p:txBody>
      </p:sp>
      <p:sp>
        <p:nvSpPr>
          <p:cNvPr id="16" name="Text 12"/>
          <p:cNvSpPr/>
          <p:nvPr/>
        </p:nvSpPr>
        <p:spPr>
          <a:xfrm>
            <a:off x="523875" y="1309390"/>
            <a:ext cx="271334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LOGO SYSTEM</a:t>
            </a:r>
            <a:endParaRPr lang="en-US" sz="840" dirty="0"/>
          </a:p>
        </p:txBody>
      </p:sp>
      <p:sp>
        <p:nvSpPr>
          <p:cNvPr id="17" name="Text 13"/>
          <p:cNvSpPr/>
          <p:nvPr/>
        </p:nvSpPr>
        <p:spPr>
          <a:xfrm>
            <a:off x="523875" y="1526530"/>
            <a:ext cx="246667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23875" y="1605111"/>
            <a:ext cx="2466677" cy="654248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1543496" y="1700957"/>
            <a:ext cx="470178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kern="0" spc="27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240" dirty="0"/>
          </a:p>
        </p:txBody>
      </p:sp>
      <p:sp>
        <p:nvSpPr>
          <p:cNvPr id="20" name="Text 16"/>
          <p:cNvSpPr/>
          <p:nvPr/>
        </p:nvSpPr>
        <p:spPr>
          <a:xfrm>
            <a:off x="1371749" y="1966317"/>
            <a:ext cx="848023" cy="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30"/>
              </a:lnSpc>
              <a:buNone/>
            </a:pPr>
            <a:r>
              <a:rPr lang="en-US" sz="420" kern="0" spc="92" dirty="0">
                <a:solidFill>
                  <a:srgbClr val="C9A84C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</a:t>
            </a:r>
            <a:endParaRPr lang="en-US" sz="420" dirty="0"/>
          </a:p>
        </p:txBody>
      </p:sp>
      <p:sp>
        <p:nvSpPr>
          <p:cNvPr id="21" name="Text 17"/>
          <p:cNvSpPr/>
          <p:nvPr/>
        </p:nvSpPr>
        <p:spPr>
          <a:xfrm>
            <a:off x="1376065" y="2089249"/>
            <a:ext cx="838364" cy="74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"/>
              </a:lnSpc>
              <a:buNone/>
            </a:pPr>
            <a:r>
              <a:rPr lang="en-US" sz="390" kern="0" spc="3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· GOLD ON BLACK</a:t>
            </a:r>
            <a:endParaRPr lang="en-US" sz="390" dirty="0"/>
          </a:p>
        </p:txBody>
      </p:sp>
      <p:sp>
        <p:nvSpPr>
          <p:cNvPr id="22" name="Text 18"/>
          <p:cNvSpPr/>
          <p:nvPr/>
        </p:nvSpPr>
        <p:spPr>
          <a:xfrm>
            <a:off x="523875" y="2330351"/>
            <a:ext cx="1204764" cy="368201"/>
          </a:xfrm>
          <a:prstGeom prst="rect">
            <a:avLst/>
          </a:prstGeom>
          <a:solidFill>
            <a:srgbClr val="0C0C0C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990154" y="2397026"/>
            <a:ext cx="29942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kern="0" spc="17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790" dirty="0"/>
          </a:p>
        </p:txBody>
      </p:sp>
      <p:sp>
        <p:nvSpPr>
          <p:cNvPr id="24" name="Text 20"/>
          <p:cNvSpPr/>
          <p:nvPr/>
        </p:nvSpPr>
        <p:spPr>
          <a:xfrm>
            <a:off x="947737" y="2561332"/>
            <a:ext cx="392579" cy="70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"/>
              </a:lnSpc>
              <a:buNone/>
            </a:pPr>
            <a:r>
              <a:rPr lang="en-US" sz="370" kern="0" spc="37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WHITE</a:t>
            </a:r>
            <a:endParaRPr lang="en-US" sz="370" dirty="0"/>
          </a:p>
        </p:txBody>
      </p:sp>
      <p:sp>
        <p:nvSpPr>
          <p:cNvPr id="25" name="Text 21"/>
          <p:cNvSpPr/>
          <p:nvPr/>
        </p:nvSpPr>
        <p:spPr>
          <a:xfrm>
            <a:off x="1785789" y="2330351"/>
            <a:ext cx="1204764" cy="368201"/>
          </a:xfrm>
          <a:prstGeom prst="rect">
            <a:avLst/>
          </a:prstGeom>
          <a:solidFill>
            <a:srgbClr val="F5EDD6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2252067" y="2397026"/>
            <a:ext cx="29942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kern="0" spc="174" dirty="0">
                <a:solidFill>
                  <a:srgbClr val="08080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790" dirty="0"/>
          </a:p>
        </p:txBody>
      </p:sp>
      <p:sp>
        <p:nvSpPr>
          <p:cNvPr id="27" name="Text 23"/>
          <p:cNvSpPr/>
          <p:nvPr/>
        </p:nvSpPr>
        <p:spPr>
          <a:xfrm>
            <a:off x="2208312" y="2561332"/>
            <a:ext cx="395689" cy="70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"/>
              </a:lnSpc>
              <a:buNone/>
            </a:pPr>
            <a:r>
              <a:rPr lang="en-US" sz="370" kern="0" spc="37" dirty="0">
                <a:solidFill>
                  <a:srgbClr val="080808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BLACK</a:t>
            </a:r>
            <a:endParaRPr lang="en-US" sz="370" dirty="0"/>
          </a:p>
        </p:txBody>
      </p:sp>
      <p:sp>
        <p:nvSpPr>
          <p:cNvPr id="28" name="Text 24"/>
          <p:cNvSpPr/>
          <p:nvPr/>
        </p:nvSpPr>
        <p:spPr>
          <a:xfrm>
            <a:off x="523875" y="2769543"/>
            <a:ext cx="2466677" cy="351383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4786" y="2870002"/>
            <a:ext cx="150465" cy="150465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1366242" y="2850059"/>
            <a:ext cx="110357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CREST SUB-MARK</a:t>
            </a:r>
            <a:endParaRPr lang="en-US" sz="510" dirty="0"/>
          </a:p>
        </p:txBody>
      </p:sp>
      <p:sp>
        <p:nvSpPr>
          <p:cNvPr id="31" name="Text 26"/>
          <p:cNvSpPr/>
          <p:nvPr/>
        </p:nvSpPr>
        <p:spPr>
          <a:xfrm>
            <a:off x="1366242" y="2954685"/>
            <a:ext cx="1103575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Icon-only usage</a:t>
            </a:r>
            <a:endParaRPr lang="en-US" sz="450" dirty="0"/>
          </a:p>
        </p:txBody>
      </p:sp>
      <p:sp>
        <p:nvSpPr>
          <p:cNvPr id="32" name="Text 27"/>
          <p:cNvSpPr/>
          <p:nvPr/>
        </p:nvSpPr>
        <p:spPr>
          <a:xfrm>
            <a:off x="523875" y="3191917"/>
            <a:ext cx="2466677" cy="296775"/>
          </a:xfrm>
          <a:prstGeom prst="roundRect">
            <a:avLst>
              <a:gd name="adj" fmla="val 2568"/>
            </a:avLst>
          </a:prstGeom>
          <a:solidFill>
            <a:srgbClr val="C9A84C">
              <a:alpha val="5000"/>
            </a:srgbClr>
          </a:solidFill>
          <a:ln/>
        </p:spPr>
        <p:txBody>
          <a:bodyPr wrap="none" lIns="57150" tIns="43180" rIns="57150" bIns="43180" rtlCol="0" anchor="t"/>
          <a:lstStyle/>
          <a:p>
            <a:pPr marL="0" indent="0" algn="l">
              <a:buNone/>
            </a:pP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space: </a:t>
            </a: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1× logo height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all sides. Never distort, recolor, or place on busy backgrounds.</a:t>
            </a:r>
            <a:endParaRPr lang="en-US" sz="530" dirty="0"/>
          </a:p>
        </p:txBody>
      </p:sp>
      <p:sp>
        <p:nvSpPr>
          <p:cNvPr id="33" name="Text 28"/>
          <p:cNvSpPr/>
          <p:nvPr/>
        </p:nvSpPr>
        <p:spPr>
          <a:xfrm>
            <a:off x="523875" y="3191917"/>
            <a:ext cx="9525" cy="288131"/>
          </a:xfrm>
          <a:custGeom>
            <a:avLst/>
            <a:gdLst/>
            <a:ahLst/>
            <a:cxnLst/>
            <a:rect l="l" t="t" r="r" b="b"/>
            <a:pathLst>
              <a:path w="9525" h="288131">
                <a:moveTo>
                  <a:pt x="0" y="7620"/>
                </a:moveTo>
                <a:lnTo>
                  <a:pt x="1191" y="3530"/>
                </a:lnTo>
                <a:lnTo>
                  <a:pt x="2381" y="2086"/>
                </a:lnTo>
                <a:lnTo>
                  <a:pt x="3572" y="1164"/>
                </a:lnTo>
                <a:lnTo>
                  <a:pt x="4763" y="556"/>
                </a:lnTo>
                <a:lnTo>
                  <a:pt x="5953" y="185"/>
                </a:lnTo>
                <a:lnTo>
                  <a:pt x="7144" y="13716000"/>
                </a:lnTo>
                <a:lnTo>
                  <a:pt x="8334" y="0"/>
                </a:lnTo>
                <a:lnTo>
                  <a:pt x="9525" y="0"/>
                </a:lnTo>
                <a:lnTo>
                  <a:pt x="9525" y="288131"/>
                </a:lnTo>
                <a:lnTo>
                  <a:pt x="8334" y="288131"/>
                </a:lnTo>
                <a:lnTo>
                  <a:pt x="7144" y="288116"/>
                </a:lnTo>
                <a:lnTo>
                  <a:pt x="5953" y="287947"/>
                </a:lnTo>
                <a:lnTo>
                  <a:pt x="4763" y="287575"/>
                </a:lnTo>
                <a:lnTo>
                  <a:pt x="3572" y="286967"/>
                </a:lnTo>
                <a:lnTo>
                  <a:pt x="2381" y="286045"/>
                </a:lnTo>
                <a:lnTo>
                  <a:pt x="1191" y="284601"/>
                </a:lnTo>
                <a:lnTo>
                  <a:pt x="0" y="280511"/>
                </a:lnTo>
                <a:close/>
              </a:path>
            </a:pathLst>
          </a:cu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69541" y="4405759"/>
            <a:ext cx="375196" cy="107603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3228677" y="1051173"/>
            <a:ext cx="2714476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3352502" y="1188839"/>
            <a:ext cx="271350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560" dirty="0"/>
          </a:p>
        </p:txBody>
      </p:sp>
      <p:sp>
        <p:nvSpPr>
          <p:cNvPr id="37" name="Text 31"/>
          <p:cNvSpPr/>
          <p:nvPr/>
        </p:nvSpPr>
        <p:spPr>
          <a:xfrm>
            <a:off x="3352502" y="1309390"/>
            <a:ext cx="271350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COLOR PALETTE</a:t>
            </a:r>
            <a:endParaRPr lang="en-US" sz="840" dirty="0"/>
          </a:p>
        </p:txBody>
      </p:sp>
      <p:sp>
        <p:nvSpPr>
          <p:cNvPr id="38" name="Text 32"/>
          <p:cNvSpPr/>
          <p:nvPr/>
        </p:nvSpPr>
        <p:spPr>
          <a:xfrm>
            <a:off x="3352502" y="1526530"/>
            <a:ext cx="246682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3352502" y="1605111"/>
            <a:ext cx="1204764" cy="1149697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4"/>
          <p:cNvSpPr/>
          <p:nvPr/>
        </p:nvSpPr>
        <p:spPr>
          <a:xfrm>
            <a:off x="3362027" y="1614636"/>
            <a:ext cx="1185714" cy="31492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3362027" y="1920032"/>
            <a:ext cx="1185714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88516" y="1701040"/>
            <a:ext cx="132588" cy="132588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3362027" y="1929557"/>
            <a:ext cx="1209428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BLACK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#080808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Black C</a:t>
            </a:r>
            <a:endParaRPr lang="en-US" sz="510" dirty="0"/>
          </a:p>
        </p:txBody>
      </p:sp>
      <p:sp>
        <p:nvSpPr>
          <p:cNvPr id="44" name="Text 37"/>
          <p:cNvSpPr/>
          <p:nvPr/>
        </p:nvSpPr>
        <p:spPr>
          <a:xfrm>
            <a:off x="4614416" y="1605111"/>
            <a:ext cx="1204913" cy="1149697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4623941" y="1614636"/>
            <a:ext cx="1185863" cy="31492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4623941" y="1614636"/>
            <a:ext cx="1185863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4623941" y="1929557"/>
            <a:ext cx="1209580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GOLD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#C9A84C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124 C</a:t>
            </a:r>
            <a:endParaRPr lang="en-US" sz="510" dirty="0"/>
          </a:p>
        </p:txBody>
      </p:sp>
      <p:sp>
        <p:nvSpPr>
          <p:cNvPr id="48" name="Text 41"/>
          <p:cNvSpPr/>
          <p:nvPr/>
        </p:nvSpPr>
        <p:spPr>
          <a:xfrm>
            <a:off x="3352502" y="2811959"/>
            <a:ext cx="1204764" cy="1149846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3362027" y="2821484"/>
            <a:ext cx="1185714" cy="314920"/>
          </a:xfrm>
          <a:prstGeom prst="rect">
            <a:avLst/>
          </a:prstGeom>
          <a:solidFill>
            <a:srgbClr val="F5EDD6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3362027" y="2821484"/>
            <a:ext cx="1185714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30000"/>
                </a:srgbClr>
              </a:gs>
              <a:gs pos="7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3362027" y="3136404"/>
            <a:ext cx="1209428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WHITE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#F5EDD6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9183 C</a:t>
            </a:r>
            <a:endParaRPr lang="en-US" sz="510" dirty="0"/>
          </a:p>
        </p:txBody>
      </p:sp>
      <p:sp>
        <p:nvSpPr>
          <p:cNvPr id="52" name="Text 45"/>
          <p:cNvSpPr/>
          <p:nvPr/>
        </p:nvSpPr>
        <p:spPr>
          <a:xfrm>
            <a:off x="4614416" y="2811959"/>
            <a:ext cx="1204913" cy="1149846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4623941" y="2821484"/>
            <a:ext cx="1185863" cy="314920"/>
          </a:xfrm>
          <a:prstGeom prst="rect">
            <a:avLst/>
          </a:prstGeom>
          <a:solidFill>
            <a:srgbClr val="8B7A4A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7"/>
          <p:cNvSpPr/>
          <p:nvPr/>
        </p:nvSpPr>
        <p:spPr>
          <a:xfrm>
            <a:off x="4623941" y="2821484"/>
            <a:ext cx="1185863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4623941" y="3136404"/>
            <a:ext cx="1209580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GOLD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#8B7A4A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7766 C</a:t>
            </a:r>
            <a:endParaRPr lang="en-US" sz="510" dirty="0"/>
          </a:p>
        </p:txBody>
      </p:sp>
      <p:sp>
        <p:nvSpPr>
          <p:cNvPr id="56" name="Text 49"/>
          <p:cNvSpPr/>
          <p:nvPr/>
        </p:nvSpPr>
        <p:spPr>
          <a:xfrm>
            <a:off x="3352502" y="4032796"/>
            <a:ext cx="2466826" cy="296775"/>
          </a:xfrm>
          <a:prstGeom prst="roundRect">
            <a:avLst>
              <a:gd name="adj" fmla="val 2568"/>
            </a:avLst>
          </a:prstGeom>
          <a:solidFill>
            <a:srgbClr val="C9A84C">
              <a:alpha val="5000"/>
            </a:srgbClr>
          </a:solidFill>
          <a:ln/>
        </p:spPr>
        <p:txBody>
          <a:bodyPr wrap="none" lIns="57150" tIns="43180" rIns="57150" bIns="43180" rtlCol="0" anchor="t"/>
          <a:lstStyle/>
          <a:p>
            <a:pPr marL="0" indent="0" algn="l">
              <a:buNone/>
            </a:pP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Gold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primary accent. </a:t>
            </a: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Black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always the base. Never substitute colors outside the defined palette.</a:t>
            </a:r>
            <a:endParaRPr lang="en-US" sz="530" dirty="0"/>
          </a:p>
        </p:txBody>
      </p:sp>
      <p:sp>
        <p:nvSpPr>
          <p:cNvPr id="57" name="Text 50"/>
          <p:cNvSpPr/>
          <p:nvPr/>
        </p:nvSpPr>
        <p:spPr>
          <a:xfrm>
            <a:off x="3352502" y="4032796"/>
            <a:ext cx="9525" cy="288131"/>
          </a:xfrm>
          <a:custGeom>
            <a:avLst/>
            <a:gdLst/>
            <a:ahLst/>
            <a:cxnLst/>
            <a:rect l="l" t="t" r="r" b="b"/>
            <a:pathLst>
              <a:path w="9525" h="288131">
                <a:moveTo>
                  <a:pt x="0" y="7620"/>
                </a:moveTo>
                <a:lnTo>
                  <a:pt x="1191" y="3530"/>
                </a:lnTo>
                <a:lnTo>
                  <a:pt x="2381" y="2086"/>
                </a:lnTo>
                <a:lnTo>
                  <a:pt x="3572" y="1164"/>
                </a:lnTo>
                <a:lnTo>
                  <a:pt x="4763" y="556"/>
                </a:lnTo>
                <a:lnTo>
                  <a:pt x="5953" y="185"/>
                </a:lnTo>
                <a:lnTo>
                  <a:pt x="7144" y="13716000"/>
                </a:lnTo>
                <a:lnTo>
                  <a:pt x="8334" y="0"/>
                </a:lnTo>
                <a:lnTo>
                  <a:pt x="9525" y="0"/>
                </a:lnTo>
                <a:lnTo>
                  <a:pt x="9525" y="288131"/>
                </a:lnTo>
                <a:lnTo>
                  <a:pt x="8334" y="288131"/>
                </a:lnTo>
                <a:lnTo>
                  <a:pt x="7144" y="288116"/>
                </a:lnTo>
                <a:lnTo>
                  <a:pt x="5953" y="287947"/>
                </a:lnTo>
                <a:lnTo>
                  <a:pt x="4763" y="287575"/>
                </a:lnTo>
                <a:lnTo>
                  <a:pt x="3572" y="286967"/>
                </a:lnTo>
                <a:lnTo>
                  <a:pt x="2381" y="286045"/>
                </a:lnTo>
                <a:lnTo>
                  <a:pt x="1191" y="284601"/>
                </a:lnTo>
                <a:lnTo>
                  <a:pt x="0" y="280511"/>
                </a:lnTo>
                <a:close/>
              </a:path>
            </a:pathLst>
          </a:cu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5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98318" y="4405759"/>
            <a:ext cx="375196" cy="107603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6057454" y="1051173"/>
            <a:ext cx="2714327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6181279" y="1188839"/>
            <a:ext cx="271334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560" dirty="0"/>
          </a:p>
        </p:txBody>
      </p:sp>
      <p:sp>
        <p:nvSpPr>
          <p:cNvPr id="61" name="Text 53"/>
          <p:cNvSpPr/>
          <p:nvPr/>
        </p:nvSpPr>
        <p:spPr>
          <a:xfrm>
            <a:off x="6181279" y="1309390"/>
            <a:ext cx="271334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TYPOGRAPHY</a:t>
            </a:r>
            <a:endParaRPr lang="en-US" sz="840" dirty="0"/>
          </a:p>
        </p:txBody>
      </p:sp>
      <p:sp>
        <p:nvSpPr>
          <p:cNvPr id="62" name="Text 54"/>
          <p:cNvSpPr/>
          <p:nvPr/>
        </p:nvSpPr>
        <p:spPr>
          <a:xfrm>
            <a:off x="6181279" y="1526530"/>
            <a:ext cx="246667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5"/>
          <p:cNvSpPr/>
          <p:nvPr/>
        </p:nvSpPr>
        <p:spPr>
          <a:xfrm>
            <a:off x="6181279" y="1605111"/>
            <a:ext cx="2466677" cy="650575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lIns="86360" tIns="71120" rIns="86360" bIns="71120" rtlCol="0" anchor="t"/>
          <a:lstStyle/>
          <a:p>
            <a:pPr marL="0" indent="0" algn="l"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FONT · CALIBRI LIGHT</a:t>
            </a:r>
            <a:endParaRPr lang="en-US" sz="450" dirty="0"/>
          </a:p>
          <a:p>
            <a:pPr marL="0" indent="0" algn="l">
              <a:buNone/>
            </a:pPr>
            <a:r>
              <a:rPr lang="en-US" sz="840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</a:t>
            </a:r>
            <a:br/>
            <a:r>
              <a:rPr lang="en-US" sz="840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LEGENDS</a:t>
            </a:r>
            <a:endParaRPr lang="en-US" sz="450" dirty="0"/>
          </a:p>
          <a:p>
            <a:pPr marL="0" indent="0" algn="l">
              <a:buNone/>
            </a:pPr>
            <a:r>
              <a:rPr lang="en-US" sz="450" kern="0" spc="2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300 · Tracked +220</a:t>
            </a:r>
            <a:endParaRPr lang="en-US" sz="450" dirty="0"/>
          </a:p>
        </p:txBody>
      </p:sp>
      <p:sp>
        <p:nvSpPr>
          <p:cNvPr id="64" name="Text 56"/>
          <p:cNvSpPr/>
          <p:nvPr/>
        </p:nvSpPr>
        <p:spPr>
          <a:xfrm>
            <a:off x="6181279" y="2307729"/>
            <a:ext cx="2466677" cy="660080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lIns="86360" tIns="71120" rIns="86360" bIns="71120" rtlCol="0" anchor="t"/>
          <a:lstStyle/>
          <a:p>
            <a:pPr marL="0" indent="0" algn="l"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FONT · CALIBRI</a:t>
            </a:r>
            <a:endParaRPr lang="en-US" sz="450" dirty="0"/>
          </a:p>
          <a:p>
            <a:pPr marL="0" indent="0" algn="l">
              <a:buNone/>
            </a:pPr>
            <a:r>
              <a:rPr lang="en-US" sz="6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 is earned, not inherited. Every stitch, every silhouette — a declaration of self-sovereignty.</a:t>
            </a:r>
            <a:endParaRPr lang="en-US" sz="450" dirty="0"/>
          </a:p>
          <a:p>
            <a:pPr marL="0" indent="0" algn="l">
              <a:buNone/>
            </a:pPr>
            <a:endParaRPr lang="en-US" sz="450" dirty="0"/>
          </a:p>
          <a:p>
            <a:pPr marL="0" indent="0" algn="l">
              <a:buNone/>
            </a:pPr>
            <a:r>
              <a:rPr lang="en-US" sz="450" kern="0" spc="2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400 · 18–12.4pt body</a:t>
            </a:r>
            <a:endParaRPr lang="en-US" sz="450" dirty="0"/>
          </a:p>
        </p:txBody>
      </p:sp>
      <p:sp>
        <p:nvSpPr>
          <p:cNvPr id="65" name="Text 57"/>
          <p:cNvSpPr/>
          <p:nvPr/>
        </p:nvSpPr>
        <p:spPr>
          <a:xfrm>
            <a:off x="6181279" y="3019574"/>
            <a:ext cx="2713345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HIERARCHY</a:t>
            </a:r>
            <a:endParaRPr lang="en-US" sz="450" dirty="0"/>
          </a:p>
        </p:txBody>
      </p:sp>
      <p:sp>
        <p:nvSpPr>
          <p:cNvPr id="66" name="Text 58"/>
          <p:cNvSpPr/>
          <p:nvPr/>
        </p:nvSpPr>
        <p:spPr>
          <a:xfrm>
            <a:off x="6181279" y="3376761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59"/>
          <p:cNvSpPr/>
          <p:nvPr/>
        </p:nvSpPr>
        <p:spPr>
          <a:xfrm>
            <a:off x="6181279" y="3207097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</a:t>
            </a:r>
            <a:endParaRPr lang="en-US" sz="510" dirty="0"/>
          </a:p>
        </p:txBody>
      </p:sp>
      <p:sp>
        <p:nvSpPr>
          <p:cNvPr id="68" name="Text 60"/>
          <p:cNvSpPr/>
          <p:nvPr/>
        </p:nvSpPr>
        <p:spPr>
          <a:xfrm>
            <a:off x="6652320" y="3169890"/>
            <a:ext cx="19678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10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" dirty="0"/>
          </a:p>
        </p:txBody>
      </p:sp>
      <p:sp>
        <p:nvSpPr>
          <p:cNvPr id="69" name="Text 61"/>
          <p:cNvSpPr/>
          <p:nvPr/>
        </p:nvSpPr>
        <p:spPr>
          <a:xfrm>
            <a:off x="8441234" y="3212753"/>
            <a:ext cx="22739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34–27pt</a:t>
            </a:r>
            <a:endParaRPr lang="en-US" sz="450" dirty="0"/>
          </a:p>
        </p:txBody>
      </p:sp>
      <p:sp>
        <p:nvSpPr>
          <p:cNvPr id="70" name="Text 62"/>
          <p:cNvSpPr/>
          <p:nvPr/>
        </p:nvSpPr>
        <p:spPr>
          <a:xfrm>
            <a:off x="6181279" y="3586609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3"/>
          <p:cNvSpPr/>
          <p:nvPr/>
        </p:nvSpPr>
        <p:spPr>
          <a:xfrm>
            <a:off x="6181279" y="3437930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SUBHEAD</a:t>
            </a:r>
            <a:endParaRPr lang="en-US" sz="510" dirty="0"/>
          </a:p>
        </p:txBody>
      </p:sp>
      <p:sp>
        <p:nvSpPr>
          <p:cNvPr id="72" name="Text 64"/>
          <p:cNvSpPr/>
          <p:nvPr/>
        </p:nvSpPr>
        <p:spPr>
          <a:xfrm>
            <a:off x="6652320" y="3421707"/>
            <a:ext cx="196780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82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</a:t>
            </a:r>
            <a:endParaRPr lang="en-US" sz="680" dirty="0"/>
          </a:p>
        </p:txBody>
      </p:sp>
      <p:sp>
        <p:nvSpPr>
          <p:cNvPr id="73" name="Text 65"/>
          <p:cNvSpPr/>
          <p:nvPr/>
        </p:nvSpPr>
        <p:spPr>
          <a:xfrm>
            <a:off x="8441234" y="3443585"/>
            <a:ext cx="22739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24–18pt</a:t>
            </a:r>
            <a:endParaRPr lang="en-US" sz="450" dirty="0"/>
          </a:p>
        </p:txBody>
      </p:sp>
      <p:sp>
        <p:nvSpPr>
          <p:cNvPr id="74" name="Text 66"/>
          <p:cNvSpPr/>
          <p:nvPr/>
        </p:nvSpPr>
        <p:spPr>
          <a:xfrm>
            <a:off x="6181279" y="3784997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7"/>
          <p:cNvSpPr/>
          <p:nvPr/>
        </p:nvSpPr>
        <p:spPr>
          <a:xfrm>
            <a:off x="6181279" y="3641973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510" dirty="0"/>
          </a:p>
        </p:txBody>
      </p:sp>
      <p:sp>
        <p:nvSpPr>
          <p:cNvPr id="76" name="Text 68"/>
          <p:cNvSpPr/>
          <p:nvPr/>
        </p:nvSpPr>
        <p:spPr>
          <a:xfrm>
            <a:off x="6652320" y="3631555"/>
            <a:ext cx="191541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Grind-built quality.</a:t>
            </a:r>
            <a:endParaRPr lang="en-US" sz="620" dirty="0"/>
          </a:p>
        </p:txBody>
      </p:sp>
      <p:sp>
        <p:nvSpPr>
          <p:cNvPr id="77" name="Text 69"/>
          <p:cNvSpPr/>
          <p:nvPr/>
        </p:nvSpPr>
        <p:spPr>
          <a:xfrm>
            <a:off x="8393609" y="3647629"/>
            <a:ext cx="27978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18–12.4pt</a:t>
            </a:r>
            <a:endParaRPr lang="en-US" sz="450" dirty="0"/>
          </a:p>
        </p:txBody>
      </p:sp>
      <p:sp>
        <p:nvSpPr>
          <p:cNvPr id="78" name="Text 70"/>
          <p:cNvSpPr/>
          <p:nvPr/>
        </p:nvSpPr>
        <p:spPr>
          <a:xfrm>
            <a:off x="6181279" y="3829943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</a:t>
            </a:r>
            <a:endParaRPr lang="en-US" sz="510" dirty="0"/>
          </a:p>
        </p:txBody>
      </p:sp>
      <p:sp>
        <p:nvSpPr>
          <p:cNvPr id="79" name="Text 71"/>
          <p:cNvSpPr/>
          <p:nvPr/>
        </p:nvSpPr>
        <p:spPr>
          <a:xfrm>
            <a:off x="6652320" y="3829943"/>
            <a:ext cx="2002840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4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2026 · SML</a:t>
            </a:r>
            <a:endParaRPr lang="en-US" sz="510" dirty="0"/>
          </a:p>
        </p:txBody>
      </p:sp>
      <p:sp>
        <p:nvSpPr>
          <p:cNvPr id="80" name="Text 72"/>
          <p:cNvSpPr/>
          <p:nvPr/>
        </p:nvSpPr>
        <p:spPr>
          <a:xfrm>
            <a:off x="8473083" y="3835598"/>
            <a:ext cx="192360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14–9pt</a:t>
            </a:r>
            <a:endParaRPr lang="en-US" sz="450" dirty="0"/>
          </a:p>
        </p:txBody>
      </p:sp>
      <p:pic>
        <p:nvPicPr>
          <p:cNvPr id="81" name="Image 6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26945" y="4405759"/>
            <a:ext cx="375196" cy="107603"/>
          </a:xfrm>
          <a:prstGeom prst="rect">
            <a:avLst/>
          </a:prstGeom>
        </p:spPr>
      </p:pic>
      <p:sp>
        <p:nvSpPr>
          <p:cNvPr id="82" name="Text 73"/>
          <p:cNvSpPr/>
          <p:nvPr/>
        </p:nvSpPr>
        <p:spPr>
          <a:xfrm>
            <a:off x="400050" y="4751338"/>
            <a:ext cx="837188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74"/>
          <p:cNvSpPr/>
          <p:nvPr/>
        </p:nvSpPr>
        <p:spPr>
          <a:xfrm>
            <a:off x="400050" y="4831854"/>
            <a:ext cx="2221394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9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BRAND STANDARDS 2026</a:t>
            </a:r>
            <a:endParaRPr lang="en-US" sz="510" dirty="0"/>
          </a:p>
        </p:txBody>
      </p:sp>
      <p:sp>
        <p:nvSpPr>
          <p:cNvPr id="84" name="Text 75"/>
          <p:cNvSpPr/>
          <p:nvPr/>
        </p:nvSpPr>
        <p:spPr>
          <a:xfrm>
            <a:off x="4367064" y="4876502"/>
            <a:ext cx="214610" cy="759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6"/>
          <p:cNvSpPr/>
          <p:nvPr/>
        </p:nvSpPr>
        <p:spPr>
          <a:xfrm>
            <a:off x="4638824" y="4831854"/>
            <a:ext cx="43121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8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</a:t>
            </a:r>
            <a:endParaRPr lang="en-US" sz="510" dirty="0"/>
          </a:p>
        </p:txBody>
      </p:sp>
      <p:sp>
        <p:nvSpPr>
          <p:cNvPr id="86" name="Text 77"/>
          <p:cNvSpPr/>
          <p:nvPr/>
        </p:nvSpPr>
        <p:spPr>
          <a:xfrm>
            <a:off x="5087987" y="4876502"/>
            <a:ext cx="214610" cy="759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78"/>
          <p:cNvSpPr/>
          <p:nvPr/>
        </p:nvSpPr>
        <p:spPr>
          <a:xfrm>
            <a:off x="7250162" y="4831854"/>
            <a:ext cx="1673944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7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USE ONLY</a:t>
            </a:r>
            <a:endParaRPr lang="en-US" sz="5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143375" cy="514350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33850" y="0"/>
            <a:ext cx="9525" cy="5143500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42900" y="271760"/>
            <a:ext cx="385572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COLLECTION</a:t>
            </a:r>
            <a:endParaRPr lang="en-US" sz="620" dirty="0"/>
          </a:p>
        </p:txBody>
      </p:sp>
      <p:sp>
        <p:nvSpPr>
          <p:cNvPr id="5" name="Text 3"/>
          <p:cNvSpPr/>
          <p:nvPr/>
        </p:nvSpPr>
        <p:spPr>
          <a:xfrm>
            <a:off x="342900" y="432941"/>
            <a:ext cx="3750564" cy="185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460" kern="0" spc="26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 GUIDE</a:t>
            </a:r>
            <a:endParaRPr lang="en-US" sz="1460" dirty="0"/>
          </a:p>
        </p:txBody>
      </p:sp>
      <p:sp>
        <p:nvSpPr>
          <p:cNvPr id="6" name="Text 4"/>
          <p:cNvSpPr/>
          <p:nvPr/>
        </p:nvSpPr>
        <p:spPr>
          <a:xfrm>
            <a:off x="342900" y="647551"/>
            <a:ext cx="350520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42900" y="899815"/>
            <a:ext cx="2262039" cy="9525"/>
          </a:xfrm>
          <a:prstGeom prst="rect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2900" y="769441"/>
            <a:ext cx="329264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660965" y="769441"/>
            <a:ext cx="483802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CHEST</a:t>
            </a:r>
            <a:endParaRPr lang="en-US" sz="620" dirty="0"/>
          </a:p>
        </p:txBody>
      </p:sp>
      <p:sp>
        <p:nvSpPr>
          <p:cNvPr id="10" name="Text 8"/>
          <p:cNvSpPr/>
          <p:nvPr/>
        </p:nvSpPr>
        <p:spPr>
          <a:xfrm>
            <a:off x="1135411" y="769441"/>
            <a:ext cx="470443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WAIST</a:t>
            </a:r>
            <a:endParaRPr lang="en-US" sz="620" dirty="0"/>
          </a:p>
        </p:txBody>
      </p:sp>
      <p:sp>
        <p:nvSpPr>
          <p:cNvPr id="11" name="Text 9"/>
          <p:cNvSpPr/>
          <p:nvPr/>
        </p:nvSpPr>
        <p:spPr>
          <a:xfrm>
            <a:off x="1596630" y="769441"/>
            <a:ext cx="470443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</a:t>
            </a:r>
            <a:endParaRPr lang="en-US" sz="620" dirty="0"/>
          </a:p>
        </p:txBody>
      </p:sp>
      <p:sp>
        <p:nvSpPr>
          <p:cNvPr id="12" name="Text 10"/>
          <p:cNvSpPr/>
          <p:nvPr/>
        </p:nvSpPr>
        <p:spPr>
          <a:xfrm>
            <a:off x="2057035" y="769441"/>
            <a:ext cx="553328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INSEAM</a:t>
            </a:r>
            <a:endParaRPr lang="en-US" sz="620" dirty="0"/>
          </a:p>
        </p:txBody>
      </p:sp>
      <p:sp>
        <p:nvSpPr>
          <p:cNvPr id="13" name="Text 11"/>
          <p:cNvSpPr/>
          <p:nvPr/>
        </p:nvSpPr>
        <p:spPr>
          <a:xfrm>
            <a:off x="342900" y="1092696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2900" y="909340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XS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660965" y="909340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34–35"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1135411" y="909340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27–28"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1596630" y="909340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35–36"</a:t>
            </a:r>
            <a:endParaRPr lang="en-US" sz="730" dirty="0"/>
          </a:p>
        </p:txBody>
      </p:sp>
      <p:sp>
        <p:nvSpPr>
          <p:cNvPr id="18" name="Text 16"/>
          <p:cNvSpPr/>
          <p:nvPr/>
        </p:nvSpPr>
        <p:spPr>
          <a:xfrm>
            <a:off x="2057035" y="909340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29"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42900" y="1285577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2900" y="1102221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660965" y="1102221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36–37"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135411" y="1102221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29–30"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1596630" y="1102221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37–38"</a:t>
            </a:r>
            <a:endParaRPr lang="en-US" sz="730" dirty="0"/>
          </a:p>
        </p:txBody>
      </p:sp>
      <p:sp>
        <p:nvSpPr>
          <p:cNvPr id="24" name="Text 22"/>
          <p:cNvSpPr/>
          <p:nvPr/>
        </p:nvSpPr>
        <p:spPr>
          <a:xfrm>
            <a:off x="2057035" y="1102221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30"</a:t>
            </a:r>
            <a:endParaRPr lang="en-US" sz="730" dirty="0"/>
          </a:p>
        </p:txBody>
      </p:sp>
      <p:sp>
        <p:nvSpPr>
          <p:cNvPr id="25" name="Text 23"/>
          <p:cNvSpPr/>
          <p:nvPr/>
        </p:nvSpPr>
        <p:spPr>
          <a:xfrm>
            <a:off x="342900" y="1478459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2900" y="1295102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60965" y="1295102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38–40"</a:t>
            </a:r>
            <a:endParaRPr lang="en-US" sz="730" dirty="0"/>
          </a:p>
        </p:txBody>
      </p:sp>
      <p:sp>
        <p:nvSpPr>
          <p:cNvPr id="28" name="Text 26"/>
          <p:cNvSpPr/>
          <p:nvPr/>
        </p:nvSpPr>
        <p:spPr>
          <a:xfrm>
            <a:off x="1135411" y="1295102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31–33"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1596630" y="1295102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39–41"</a:t>
            </a:r>
            <a:endParaRPr lang="en-US" sz="730" dirty="0"/>
          </a:p>
        </p:txBody>
      </p:sp>
      <p:sp>
        <p:nvSpPr>
          <p:cNvPr id="30" name="Text 28"/>
          <p:cNvSpPr/>
          <p:nvPr/>
        </p:nvSpPr>
        <p:spPr>
          <a:xfrm>
            <a:off x="2057035" y="1295102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30.5"</a:t>
            </a:r>
            <a:endParaRPr lang="en-US" sz="730" dirty="0"/>
          </a:p>
        </p:txBody>
      </p:sp>
      <p:sp>
        <p:nvSpPr>
          <p:cNvPr id="31" name="Text 29"/>
          <p:cNvSpPr/>
          <p:nvPr/>
        </p:nvSpPr>
        <p:spPr>
          <a:xfrm>
            <a:off x="342900" y="1671340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42900" y="1487984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60965" y="1487984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41–43"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1135411" y="1487984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34–36"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1596630" y="1487984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42–44"</a:t>
            </a:r>
            <a:endParaRPr lang="en-US" sz="730" dirty="0"/>
          </a:p>
        </p:txBody>
      </p:sp>
      <p:sp>
        <p:nvSpPr>
          <p:cNvPr id="36" name="Text 34"/>
          <p:cNvSpPr/>
          <p:nvPr/>
        </p:nvSpPr>
        <p:spPr>
          <a:xfrm>
            <a:off x="2057035" y="1487984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31"</a:t>
            </a:r>
            <a:endParaRPr lang="en-US" sz="730" dirty="0"/>
          </a:p>
        </p:txBody>
      </p:sp>
      <p:sp>
        <p:nvSpPr>
          <p:cNvPr id="37" name="Text 35"/>
          <p:cNvSpPr/>
          <p:nvPr/>
        </p:nvSpPr>
        <p:spPr>
          <a:xfrm>
            <a:off x="342900" y="1864221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42900" y="1680865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XL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60965" y="1680865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44–46"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1135411" y="1680865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37–39"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1596630" y="1680865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45–47"</a:t>
            </a:r>
            <a:endParaRPr lang="en-US" sz="730" dirty="0"/>
          </a:p>
        </p:txBody>
      </p:sp>
      <p:sp>
        <p:nvSpPr>
          <p:cNvPr id="42" name="Text 40"/>
          <p:cNvSpPr/>
          <p:nvPr/>
        </p:nvSpPr>
        <p:spPr>
          <a:xfrm>
            <a:off x="2057035" y="1680865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31.5"</a:t>
            </a:r>
            <a:endParaRPr lang="en-US" sz="730" dirty="0"/>
          </a:p>
        </p:txBody>
      </p:sp>
      <p:sp>
        <p:nvSpPr>
          <p:cNvPr id="43" name="Text 41"/>
          <p:cNvSpPr/>
          <p:nvPr/>
        </p:nvSpPr>
        <p:spPr>
          <a:xfrm>
            <a:off x="342900" y="2057102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2900" y="1873746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2XL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60965" y="1873746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47–50"</a:t>
            </a:r>
            <a:endParaRPr lang="en-US" sz="730" dirty="0"/>
          </a:p>
        </p:txBody>
      </p:sp>
      <p:sp>
        <p:nvSpPr>
          <p:cNvPr id="46" name="Text 44"/>
          <p:cNvSpPr/>
          <p:nvPr/>
        </p:nvSpPr>
        <p:spPr>
          <a:xfrm>
            <a:off x="1135411" y="1873746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40–43"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1596630" y="1873746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48–51"</a:t>
            </a:r>
            <a:endParaRPr lang="en-US" sz="730" dirty="0"/>
          </a:p>
        </p:txBody>
      </p:sp>
      <p:sp>
        <p:nvSpPr>
          <p:cNvPr id="48" name="Text 46"/>
          <p:cNvSpPr/>
          <p:nvPr/>
        </p:nvSpPr>
        <p:spPr>
          <a:xfrm>
            <a:off x="2057035" y="1873746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32"</a:t>
            </a:r>
            <a:endParaRPr lang="en-US" sz="730" dirty="0"/>
          </a:p>
        </p:txBody>
      </p:sp>
      <p:sp>
        <p:nvSpPr>
          <p:cNvPr id="49" name="Text 47"/>
          <p:cNvSpPr/>
          <p:nvPr/>
        </p:nvSpPr>
        <p:spPr>
          <a:xfrm>
            <a:off x="342900" y="2249984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342900" y="2066627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3XL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60965" y="2066627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51–54"</a:t>
            </a:r>
            <a:endParaRPr lang="en-US" sz="730" dirty="0"/>
          </a:p>
        </p:txBody>
      </p:sp>
      <p:sp>
        <p:nvSpPr>
          <p:cNvPr id="52" name="Text 50"/>
          <p:cNvSpPr/>
          <p:nvPr/>
        </p:nvSpPr>
        <p:spPr>
          <a:xfrm>
            <a:off x="1135411" y="2066627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44–47"</a:t>
            </a:r>
            <a:endParaRPr lang="en-US" sz="730" dirty="0"/>
          </a:p>
        </p:txBody>
      </p:sp>
      <p:sp>
        <p:nvSpPr>
          <p:cNvPr id="53" name="Text 51"/>
          <p:cNvSpPr/>
          <p:nvPr/>
        </p:nvSpPr>
        <p:spPr>
          <a:xfrm>
            <a:off x="1596630" y="2066627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52–55"</a:t>
            </a:r>
            <a:endParaRPr lang="en-US" sz="730" dirty="0"/>
          </a:p>
        </p:txBody>
      </p:sp>
      <p:sp>
        <p:nvSpPr>
          <p:cNvPr id="54" name="Text 52"/>
          <p:cNvSpPr/>
          <p:nvPr/>
        </p:nvSpPr>
        <p:spPr>
          <a:xfrm>
            <a:off x="2057035" y="2066627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32"</a:t>
            </a:r>
            <a:endParaRPr lang="en-US" sz="730" dirty="0"/>
          </a:p>
        </p:txBody>
      </p:sp>
      <p:sp>
        <p:nvSpPr>
          <p:cNvPr id="55" name="Text 53"/>
          <p:cNvSpPr/>
          <p:nvPr/>
        </p:nvSpPr>
        <p:spPr>
          <a:xfrm>
            <a:off x="342900" y="2442865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42900" y="2259509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4XL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60965" y="2259509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55–58"</a:t>
            </a:r>
            <a:endParaRPr lang="en-US" sz="730" dirty="0"/>
          </a:p>
        </p:txBody>
      </p:sp>
      <p:sp>
        <p:nvSpPr>
          <p:cNvPr id="58" name="Text 56"/>
          <p:cNvSpPr/>
          <p:nvPr/>
        </p:nvSpPr>
        <p:spPr>
          <a:xfrm>
            <a:off x="1135411" y="2259509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48–52"</a:t>
            </a:r>
            <a:endParaRPr lang="en-US" sz="730" dirty="0"/>
          </a:p>
        </p:txBody>
      </p:sp>
      <p:sp>
        <p:nvSpPr>
          <p:cNvPr id="59" name="Text 57"/>
          <p:cNvSpPr/>
          <p:nvPr/>
        </p:nvSpPr>
        <p:spPr>
          <a:xfrm>
            <a:off x="1596630" y="2259509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56–60"</a:t>
            </a:r>
            <a:endParaRPr lang="en-US" sz="730" dirty="0"/>
          </a:p>
        </p:txBody>
      </p:sp>
      <p:sp>
        <p:nvSpPr>
          <p:cNvPr id="60" name="Text 58"/>
          <p:cNvSpPr/>
          <p:nvPr/>
        </p:nvSpPr>
        <p:spPr>
          <a:xfrm>
            <a:off x="2057035" y="2259509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32.5"</a:t>
            </a:r>
            <a:endParaRPr lang="en-US" sz="730" dirty="0"/>
          </a:p>
        </p:txBody>
      </p:sp>
      <p:sp>
        <p:nvSpPr>
          <p:cNvPr id="61" name="Text 59"/>
          <p:cNvSpPr/>
          <p:nvPr/>
        </p:nvSpPr>
        <p:spPr>
          <a:xfrm>
            <a:off x="342900" y="2514302"/>
            <a:ext cx="248824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i="1" kern="0" spc="37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runs true to size.</a:t>
            </a:r>
            <a:r>
              <a:rPr lang="en-US" sz="620" i="1" kern="0" spc="3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oversized fits, size up one.</a:t>
            </a:r>
            <a:endParaRPr lang="en-US" sz="620" dirty="0"/>
          </a:p>
        </p:txBody>
      </p:sp>
      <p:pic>
        <p:nvPicPr>
          <p:cNvPr id="6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3415" y="798612"/>
            <a:ext cx="514350" cy="1382018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3462040" y="795040"/>
            <a:ext cx="27699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CHEST</a:t>
            </a:r>
            <a:endParaRPr lang="en-US" sz="510" dirty="0"/>
          </a:p>
        </p:txBody>
      </p:sp>
      <p:sp>
        <p:nvSpPr>
          <p:cNvPr id="64" name="Text 61"/>
          <p:cNvSpPr/>
          <p:nvPr/>
        </p:nvSpPr>
        <p:spPr>
          <a:xfrm>
            <a:off x="3462040" y="1023640"/>
            <a:ext cx="258500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WAIST</a:t>
            </a:r>
            <a:endParaRPr lang="en-US" sz="510" dirty="0"/>
          </a:p>
        </p:txBody>
      </p:sp>
      <p:sp>
        <p:nvSpPr>
          <p:cNvPr id="65" name="Text 62"/>
          <p:cNvSpPr/>
          <p:nvPr/>
        </p:nvSpPr>
        <p:spPr>
          <a:xfrm>
            <a:off x="3462040" y="1215330"/>
            <a:ext cx="140137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</a:t>
            </a:r>
            <a:endParaRPr lang="en-US" sz="510" dirty="0"/>
          </a:p>
        </p:txBody>
      </p:sp>
      <p:sp>
        <p:nvSpPr>
          <p:cNvPr id="66" name="Text 63"/>
          <p:cNvSpPr/>
          <p:nvPr/>
        </p:nvSpPr>
        <p:spPr>
          <a:xfrm>
            <a:off x="3462040" y="1595140"/>
            <a:ext cx="315798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INSEAM</a:t>
            </a:r>
            <a:endParaRPr lang="en-US" sz="510" dirty="0"/>
          </a:p>
        </p:txBody>
      </p:sp>
      <p:sp>
        <p:nvSpPr>
          <p:cNvPr id="67" name="Text 64"/>
          <p:cNvSpPr/>
          <p:nvPr/>
        </p:nvSpPr>
        <p:spPr>
          <a:xfrm>
            <a:off x="342900" y="5003750"/>
            <a:ext cx="1397496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5"/>
          <p:cNvSpPr/>
          <p:nvPr/>
        </p:nvSpPr>
        <p:spPr>
          <a:xfrm>
            <a:off x="1826716" y="4954191"/>
            <a:ext cx="5284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C9A84C">
                    <a:alpha val="4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69" name="Text 66"/>
          <p:cNvSpPr/>
          <p:nvPr/>
        </p:nvSpPr>
        <p:spPr>
          <a:xfrm>
            <a:off x="2393454" y="5003750"/>
            <a:ext cx="1397496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7"/>
          <p:cNvSpPr/>
          <p:nvPr/>
        </p:nvSpPr>
        <p:spPr>
          <a:xfrm>
            <a:off x="4143375" y="0"/>
            <a:ext cx="5000625" cy="51435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8"/>
          <p:cNvSpPr/>
          <p:nvPr/>
        </p:nvSpPr>
        <p:spPr>
          <a:xfrm>
            <a:off x="7287216" y="0"/>
            <a:ext cx="1856784" cy="1856740"/>
          </a:xfrm>
          <a:prstGeom prst="ellipse">
            <a:avLst/>
          </a:prstGeom>
          <a:gradFill rotWithShape="1">
            <a:gsLst>
              <a:gs pos="0">
                <a:srgbClr val="C9A84C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9"/>
          <p:cNvSpPr/>
          <p:nvPr/>
        </p:nvSpPr>
        <p:spPr>
          <a:xfrm>
            <a:off x="4143375" y="3857034"/>
            <a:ext cx="1572216" cy="1286466"/>
          </a:xfrm>
          <a:prstGeom prst="ellipse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70"/>
          <p:cNvSpPr/>
          <p:nvPr/>
        </p:nvSpPr>
        <p:spPr>
          <a:xfrm>
            <a:off x="4458295" y="271760"/>
            <a:ext cx="477708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COLLECTION · ALL STYLES</a:t>
            </a:r>
            <a:endParaRPr lang="en-US" sz="620" dirty="0"/>
          </a:p>
        </p:txBody>
      </p:sp>
      <p:sp>
        <p:nvSpPr>
          <p:cNvPr id="74" name="Text 71"/>
          <p:cNvSpPr/>
          <p:nvPr/>
        </p:nvSpPr>
        <p:spPr>
          <a:xfrm>
            <a:off x="4458295" y="432941"/>
            <a:ext cx="4646801" cy="185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460" kern="0" spc="26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COLORWAY SYSTEM</a:t>
            </a:r>
            <a:endParaRPr lang="en-US" sz="1460" dirty="0"/>
          </a:p>
        </p:txBody>
      </p:sp>
      <p:sp>
        <p:nvSpPr>
          <p:cNvPr id="75" name="Text 72"/>
          <p:cNvSpPr/>
          <p:nvPr/>
        </p:nvSpPr>
        <p:spPr>
          <a:xfrm>
            <a:off x="4458295" y="647551"/>
            <a:ext cx="4342805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73"/>
          <p:cNvSpPr/>
          <p:nvPr/>
        </p:nvSpPr>
        <p:spPr>
          <a:xfrm>
            <a:off x="4872335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1C1C1C"/>
              </a:gs>
              <a:gs pos="100000">
                <a:srgbClr val="050505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35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4"/>
          <p:cNvSpPr/>
          <p:nvPr/>
        </p:nvSpPr>
        <p:spPr>
          <a:xfrm>
            <a:off x="4865601" y="1411932"/>
            <a:ext cx="527968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JET BLACK</a:t>
            </a:r>
            <a:endParaRPr lang="en-US" sz="560" dirty="0"/>
          </a:p>
        </p:txBody>
      </p:sp>
      <p:sp>
        <p:nvSpPr>
          <p:cNvPr id="78" name="Text 75"/>
          <p:cNvSpPr/>
          <p:nvPr/>
        </p:nvSpPr>
        <p:spPr>
          <a:xfrm>
            <a:off x="6372374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E8C96A"/>
              </a:gs>
              <a:gs pos="100000">
                <a:srgbClr val="9A6F1E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60000"/>
              </a:srgbClr>
            </a:solidFill>
          </a:ln>
          <a:effectLst>
            <a:outerShdw blurRad="171450" dist="29210" dir="5400000" algn="bl" rotWithShape="0">
              <a:srgbClr val="C9A84C">
                <a:alpha val="2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6"/>
          <p:cNvSpPr/>
          <p:nvPr/>
        </p:nvSpPr>
        <p:spPr>
          <a:xfrm>
            <a:off x="6278709" y="1411932"/>
            <a:ext cx="701829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 GOLD</a:t>
            </a:r>
            <a:endParaRPr lang="en-US" sz="560" dirty="0"/>
          </a:p>
        </p:txBody>
      </p:sp>
      <p:sp>
        <p:nvSpPr>
          <p:cNvPr id="80" name="Text 77"/>
          <p:cNvSpPr/>
          <p:nvPr/>
        </p:nvSpPr>
        <p:spPr>
          <a:xfrm>
            <a:off x="7872413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FFFAF0"/>
              </a:gs>
              <a:gs pos="100000">
                <a:srgbClr val="E8DFC6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F5EDD6">
                <a:alpha val="5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78"/>
          <p:cNvSpPr/>
          <p:nvPr/>
        </p:nvSpPr>
        <p:spPr>
          <a:xfrm>
            <a:off x="7819683" y="1411932"/>
            <a:ext cx="619810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BONE WHITE</a:t>
            </a:r>
            <a:endParaRPr lang="en-US" sz="560" dirty="0"/>
          </a:p>
        </p:txBody>
      </p:sp>
      <p:sp>
        <p:nvSpPr>
          <p:cNvPr id="82" name="Text 79"/>
          <p:cNvSpPr/>
          <p:nvPr/>
        </p:nvSpPr>
        <p:spPr>
          <a:xfrm>
            <a:off x="4872335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4A4A4A"/>
              </a:gs>
              <a:gs pos="100000">
                <a:srgbClr val="1E1E1E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80"/>
          <p:cNvSpPr/>
          <p:nvPr/>
        </p:nvSpPr>
        <p:spPr>
          <a:xfrm>
            <a:off x="4740042" y="2203996"/>
            <a:ext cx="778937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OBSIDIAN GREY</a:t>
            </a:r>
            <a:endParaRPr lang="en-US" sz="560" dirty="0"/>
          </a:p>
        </p:txBody>
      </p:sp>
      <p:sp>
        <p:nvSpPr>
          <p:cNvPr id="84" name="Text 81"/>
          <p:cNvSpPr/>
          <p:nvPr/>
        </p:nvSpPr>
        <p:spPr>
          <a:xfrm>
            <a:off x="6372374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1A2A4A"/>
              </a:gs>
              <a:gs pos="100000">
                <a:srgbClr val="050D1F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82"/>
          <p:cNvSpPr/>
          <p:nvPr/>
        </p:nvSpPr>
        <p:spPr>
          <a:xfrm>
            <a:off x="6241554" y="2203996"/>
            <a:ext cx="775990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MIDNIGHT NAVY</a:t>
            </a:r>
            <a:endParaRPr lang="en-US" sz="560" dirty="0"/>
          </a:p>
        </p:txBody>
      </p:sp>
      <p:sp>
        <p:nvSpPr>
          <p:cNvPr id="86" name="Text 83"/>
          <p:cNvSpPr/>
          <p:nvPr/>
        </p:nvSpPr>
        <p:spPr>
          <a:xfrm>
            <a:off x="7872413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6B6E3A"/>
              </a:gs>
              <a:gs pos="100000">
                <a:srgbClr val="3A3D1A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84"/>
          <p:cNvSpPr/>
          <p:nvPr/>
        </p:nvSpPr>
        <p:spPr>
          <a:xfrm>
            <a:off x="7753863" y="2203996"/>
            <a:ext cx="751597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VINTAGE OLIVE</a:t>
            </a:r>
            <a:endParaRPr lang="en-US" sz="560" dirty="0"/>
          </a:p>
        </p:txBody>
      </p:sp>
      <p:sp>
        <p:nvSpPr>
          <p:cNvPr id="88" name="Text 85"/>
          <p:cNvSpPr/>
          <p:nvPr/>
        </p:nvSpPr>
        <p:spPr>
          <a:xfrm>
            <a:off x="4458295" y="2460278"/>
            <a:ext cx="1177082" cy="7590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86"/>
          <p:cNvSpPr/>
          <p:nvPr/>
        </p:nvSpPr>
        <p:spPr>
          <a:xfrm>
            <a:off x="5749528" y="2410718"/>
            <a:ext cx="193637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78" dirty="0">
                <a:solidFill>
                  <a:srgbClr val="8B7A4A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AVAILABLE ACROSS ALL PRODUCT LINES</a:t>
            </a:r>
            <a:endParaRPr lang="en-US" sz="560" dirty="0"/>
          </a:p>
        </p:txBody>
      </p:sp>
      <p:sp>
        <p:nvSpPr>
          <p:cNvPr id="90" name="Text 87"/>
          <p:cNvSpPr/>
          <p:nvPr/>
        </p:nvSpPr>
        <p:spPr>
          <a:xfrm>
            <a:off x="7624018" y="2460278"/>
            <a:ext cx="1177082" cy="7590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88"/>
          <p:cNvSpPr/>
          <p:nvPr/>
        </p:nvSpPr>
        <p:spPr>
          <a:xfrm>
            <a:off x="5065961" y="2603748"/>
            <a:ext cx="1056084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9"/>
          <p:cNvSpPr/>
          <p:nvPr/>
        </p:nvSpPr>
        <p:spPr>
          <a:xfrm>
            <a:off x="5175796" y="2666554"/>
            <a:ext cx="70991" cy="70991"/>
          </a:xfrm>
          <a:prstGeom prst="ellipse">
            <a:avLst/>
          </a:prstGeom>
          <a:solidFill>
            <a:srgbClr val="080808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90"/>
          <p:cNvSpPr/>
          <p:nvPr/>
        </p:nvSpPr>
        <p:spPr>
          <a:xfrm>
            <a:off x="5296198" y="2666554"/>
            <a:ext cx="70991" cy="70991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91"/>
          <p:cNvSpPr/>
          <p:nvPr/>
        </p:nvSpPr>
        <p:spPr>
          <a:xfrm>
            <a:off x="5416600" y="2648694"/>
            <a:ext cx="65517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BLACK / GOLD</a:t>
            </a:r>
            <a:endParaRPr lang="en-US" sz="560" dirty="0"/>
          </a:p>
        </p:txBody>
      </p:sp>
      <p:sp>
        <p:nvSpPr>
          <p:cNvPr id="95" name="Text 92"/>
          <p:cNvSpPr/>
          <p:nvPr/>
        </p:nvSpPr>
        <p:spPr>
          <a:xfrm>
            <a:off x="6193036" y="2603748"/>
            <a:ext cx="1015901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6" name="Text 93"/>
          <p:cNvSpPr/>
          <p:nvPr/>
        </p:nvSpPr>
        <p:spPr>
          <a:xfrm>
            <a:off x="6302871" y="2666554"/>
            <a:ext cx="70991" cy="70991"/>
          </a:xfrm>
          <a:prstGeom prst="ellipse">
            <a:avLst/>
          </a:prstGeom>
          <a:solidFill>
            <a:srgbClr val="F5EDD6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7" name="Text 94"/>
          <p:cNvSpPr/>
          <p:nvPr/>
        </p:nvSpPr>
        <p:spPr>
          <a:xfrm>
            <a:off x="6423273" y="2666554"/>
            <a:ext cx="70991" cy="70991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8" name="Text 95"/>
          <p:cNvSpPr/>
          <p:nvPr/>
        </p:nvSpPr>
        <p:spPr>
          <a:xfrm>
            <a:off x="6543675" y="2648694"/>
            <a:ext cx="61096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BONE / GOLD</a:t>
            </a:r>
            <a:endParaRPr lang="en-US" sz="560" dirty="0"/>
          </a:p>
        </p:txBody>
      </p:sp>
      <p:sp>
        <p:nvSpPr>
          <p:cNvPr id="99" name="Text 96"/>
          <p:cNvSpPr/>
          <p:nvPr/>
        </p:nvSpPr>
        <p:spPr>
          <a:xfrm>
            <a:off x="7279928" y="2603748"/>
            <a:ext cx="913507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0" name="Text 97"/>
          <p:cNvSpPr/>
          <p:nvPr/>
        </p:nvSpPr>
        <p:spPr>
          <a:xfrm>
            <a:off x="7389763" y="2666554"/>
            <a:ext cx="70991" cy="70991"/>
          </a:xfrm>
          <a:prstGeom prst="ellipse">
            <a:avLst/>
          </a:prstGeom>
          <a:solidFill>
            <a:srgbClr val="080808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1" name="Text 98"/>
          <p:cNvSpPr/>
          <p:nvPr/>
        </p:nvSpPr>
        <p:spPr>
          <a:xfrm>
            <a:off x="7510165" y="2666554"/>
            <a:ext cx="70991" cy="70991"/>
          </a:xfrm>
          <a:prstGeom prst="ellipse">
            <a:avLst/>
          </a:prstGeom>
          <a:solidFill>
            <a:srgbClr val="1C1C1C"/>
          </a:solidFill>
          <a:ln w="9525">
            <a:solidFill>
              <a:srgbClr val="C9A84C">
                <a:alpha val="2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2" name="Text 99"/>
          <p:cNvSpPr/>
          <p:nvPr/>
        </p:nvSpPr>
        <p:spPr>
          <a:xfrm>
            <a:off x="7630567" y="2648694"/>
            <a:ext cx="49833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BLACK</a:t>
            </a:r>
            <a:endParaRPr lang="en-US" sz="560" dirty="0"/>
          </a:p>
        </p:txBody>
      </p:sp>
      <p:sp>
        <p:nvSpPr>
          <p:cNvPr id="103" name="Text 100"/>
          <p:cNvSpPr/>
          <p:nvPr/>
        </p:nvSpPr>
        <p:spPr>
          <a:xfrm>
            <a:off x="4414867" y="2900660"/>
            <a:ext cx="4429661" cy="245566"/>
          </a:xfrm>
          <a:prstGeom prst="rect">
            <a:avLst/>
          </a:prstGeom>
          <a:noFill/>
          <a:ln/>
        </p:spPr>
        <p:txBody>
          <a:bodyPr wrap="none" lIns="0" tIns="57150" rIns="0" bIns="57150" rtlCol="0" anchor="t"/>
          <a:lstStyle/>
          <a:p>
            <a:pPr marL="0" indent="0" algn="ctr">
              <a:lnSpc>
                <a:spcPts val="885"/>
              </a:lnSpc>
              <a:buNone/>
            </a:pPr>
            <a:r>
              <a:rPr lang="en-US" sz="590" kern="0" spc="7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COLORWAYS AVAILABLE</a:t>
            </a:r>
            <a:r>
              <a:rPr lang="en-US" sz="590" kern="0" spc="7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BULK ORDERS </a:t>
            </a:r>
            <a:r>
              <a:rPr lang="en-US" sz="590" kern="0" spc="7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(50+ UNITS)</a:t>
            </a:r>
            <a:endParaRPr lang="en-US" sz="590" dirty="0"/>
          </a:p>
        </p:txBody>
      </p:sp>
      <p:sp>
        <p:nvSpPr>
          <p:cNvPr id="104" name="Text 101"/>
          <p:cNvSpPr/>
          <p:nvPr/>
        </p:nvSpPr>
        <p:spPr>
          <a:xfrm>
            <a:off x="4458295" y="5003750"/>
            <a:ext cx="1844873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5" name="Text 102"/>
          <p:cNvSpPr/>
          <p:nvPr/>
        </p:nvSpPr>
        <p:spPr>
          <a:xfrm>
            <a:off x="6303169" y="4954191"/>
            <a:ext cx="666119" cy="106710"/>
          </a:xfrm>
          <a:prstGeom prst="rect">
            <a:avLst/>
          </a:prstGeom>
          <a:solidFill>
            <a:srgbClr val="141414"/>
          </a:solidFill>
          <a:ln/>
        </p:spPr>
        <p:txBody>
          <a:bodyPr wrap="none" lIns="86360" tIns="0" rIns="86360" bIns="0" rtlCol="0" anchor="t"/>
          <a:lstStyle/>
          <a:p>
            <a:pPr marL="0" indent="0" algn="l">
              <a:buNone/>
            </a:pPr>
            <a:r>
              <a:rPr lang="en-US" sz="560" kern="0" spc="15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106" name="Text 103"/>
          <p:cNvSpPr/>
          <p:nvPr/>
        </p:nvSpPr>
        <p:spPr>
          <a:xfrm>
            <a:off x="6956227" y="5003750"/>
            <a:ext cx="1844873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7" name="Text 104"/>
          <p:cNvSpPr/>
          <p:nvPr/>
        </p:nvSpPr>
        <p:spPr>
          <a:xfrm>
            <a:off x="4925040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8" name="Text 105"/>
          <p:cNvSpPr/>
          <p:nvPr/>
        </p:nvSpPr>
        <p:spPr>
          <a:xfrm>
            <a:off x="6425079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9" name="Text 106"/>
          <p:cNvSpPr/>
          <p:nvPr/>
        </p:nvSpPr>
        <p:spPr>
          <a:xfrm>
            <a:off x="7925117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0" name="Text 107"/>
          <p:cNvSpPr/>
          <p:nvPr/>
        </p:nvSpPr>
        <p:spPr>
          <a:xfrm>
            <a:off x="4925040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1" name="Text 108"/>
          <p:cNvSpPr/>
          <p:nvPr/>
        </p:nvSpPr>
        <p:spPr>
          <a:xfrm>
            <a:off x="6425079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2" name="Text 109"/>
          <p:cNvSpPr/>
          <p:nvPr/>
        </p:nvSpPr>
        <p:spPr>
          <a:xfrm>
            <a:off x="7925117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3" name="Text 110"/>
          <p:cNvSpPr/>
          <p:nvPr/>
        </p:nvSpPr>
        <p:spPr>
          <a:xfrm>
            <a:off x="4136380" y="0"/>
            <a:ext cx="1384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5000"/>
                </a:srgbClr>
              </a:gs>
              <a:gs pos="8000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33333">
                <a:srgbClr val="C9A84C">
                  <a:alpha val="4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25000">
                <a:srgbClr val="C9A84C">
                  <a:alpha val="3000"/>
                </a:srgbClr>
              </a:gs>
              <a:gs pos="50000">
                <a:srgbClr val="C9A84C">
                  <a:alpha val="3000"/>
                </a:srgbClr>
              </a:gs>
              <a:gs pos="75000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24959" y="1392585"/>
            <a:ext cx="3304319" cy="2358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70"/>
              </a:lnSpc>
              <a:buNone/>
            </a:pPr>
            <a:r>
              <a:rPr lang="en-US" sz="12380" b="1" kern="0" spc="-45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238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0050" y="200620"/>
            <a:ext cx="917829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8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BRAND CATALOG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00050" y="347811"/>
            <a:ext cx="8927973" cy="299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0"/>
              </a:lnSpc>
              <a:spcAft>
                <a:spcPts val="230"/>
              </a:spcAft>
              <a:buNone/>
            </a:pPr>
            <a:r>
              <a:rPr lang="en-US" sz="2360" kern="0" spc="56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TO ORDER</a:t>
            </a:r>
            <a:endParaRPr lang="en-US" sz="2360" dirty="0"/>
          </a:p>
        </p:txBody>
      </p:sp>
      <p:sp>
        <p:nvSpPr>
          <p:cNvPr id="8" name="Text 6"/>
          <p:cNvSpPr/>
          <p:nvPr/>
        </p:nvSpPr>
        <p:spPr>
          <a:xfrm>
            <a:off x="400050" y="676721"/>
            <a:ext cx="917829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3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A LEGEND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400050" y="886718"/>
            <a:ext cx="57150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050" y="1022449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9885" y="1118295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91" y="1166301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4805" y="11107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MINIMUM ORDER QUANTITIES</a:t>
            </a:r>
            <a:endParaRPr lang="en-US" sz="620" dirty="0"/>
          </a:p>
        </p:txBody>
      </p:sp>
      <p:sp>
        <p:nvSpPr>
          <p:cNvPr id="14" name="Text 11"/>
          <p:cNvSpPr/>
          <p:nvPr/>
        </p:nvSpPr>
        <p:spPr>
          <a:xfrm>
            <a:off x="824805" y="12110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singles via SML website · Wholesale MOQ: 12 units/style · Bulk custom: 50+ units</a:t>
            </a:r>
            <a:endParaRPr lang="en-US" sz="730" dirty="0"/>
          </a:p>
        </p:txBody>
      </p:sp>
      <p:sp>
        <p:nvSpPr>
          <p:cNvPr id="15" name="Text 12"/>
          <p:cNvSpPr/>
          <p:nvPr/>
        </p:nvSpPr>
        <p:spPr>
          <a:xfrm>
            <a:off x="4714875" y="1022449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824710" y="1118295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2716" y="1166301"/>
            <a:ext cx="132588" cy="13258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39630" y="11107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 TIMES</a:t>
            </a:r>
            <a:endParaRPr lang="en-US" sz="620" dirty="0"/>
          </a:p>
        </p:txBody>
      </p:sp>
      <p:sp>
        <p:nvSpPr>
          <p:cNvPr id="19" name="Text 15"/>
          <p:cNvSpPr/>
          <p:nvPr/>
        </p:nvSpPr>
        <p:spPr>
          <a:xfrm>
            <a:off x="5139630" y="12110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In-stock: 5–10 business days · Made-to-order: 4–6 weeks · Custom/branded: 8–12 weeks</a:t>
            </a:r>
            <a:endParaRPr lang="en-US" sz="730" dirty="0"/>
          </a:p>
        </p:txBody>
      </p:sp>
      <p:sp>
        <p:nvSpPr>
          <p:cNvPr id="20" name="Text 16"/>
          <p:cNvSpPr/>
          <p:nvPr/>
        </p:nvSpPr>
        <p:spPr>
          <a:xfrm>
            <a:off x="400050" y="1606748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509885" y="1702594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7891" y="1750600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4805" y="16950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SHIPPING &amp; FULFILLMENT</a:t>
            </a:r>
            <a:endParaRPr lang="en-US" sz="620" dirty="0"/>
          </a:p>
        </p:txBody>
      </p:sp>
      <p:sp>
        <p:nvSpPr>
          <p:cNvPr id="24" name="Text 19"/>
          <p:cNvSpPr/>
          <p:nvPr/>
        </p:nvSpPr>
        <p:spPr>
          <a:xfrm>
            <a:off x="824805" y="17953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Worldwide shipping · US standard 3–5 days, express 1–2 days · White-label wholesale fulfillment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4714875" y="1606748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4824710" y="1702594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2716" y="1750600"/>
            <a:ext cx="132588" cy="13258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39630" y="16950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PRICING TIERS</a:t>
            </a:r>
            <a:endParaRPr lang="en-US" sz="620" dirty="0"/>
          </a:p>
        </p:txBody>
      </p:sp>
      <p:sp>
        <p:nvSpPr>
          <p:cNvPr id="29" name="Text 23"/>
          <p:cNvSpPr/>
          <p:nvPr/>
        </p:nvSpPr>
        <p:spPr>
          <a:xfrm>
            <a:off x="5139630" y="17953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MSRP per product · Wholesale: 40–50% off at 12+ units · Bulk custom: contact for quote</a:t>
            </a:r>
            <a:endParaRPr lang="en-US" sz="730" dirty="0"/>
          </a:p>
        </p:txBody>
      </p:sp>
      <p:sp>
        <p:nvSpPr>
          <p:cNvPr id="30" name="Text 24"/>
          <p:cNvSpPr/>
          <p:nvPr/>
        </p:nvSpPr>
        <p:spPr>
          <a:xfrm>
            <a:off x="400050" y="219104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509885" y="228689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7891" y="2334899"/>
            <a:ext cx="132588" cy="13258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24805" y="227930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QUALITY GUARANTEE</a:t>
            </a:r>
            <a:endParaRPr lang="en-US" sz="620" dirty="0"/>
          </a:p>
        </p:txBody>
      </p:sp>
      <p:sp>
        <p:nvSpPr>
          <p:cNvPr id="34" name="Text 27"/>
          <p:cNvSpPr/>
          <p:nvPr/>
        </p:nvSpPr>
        <p:spPr>
          <a:xfrm>
            <a:off x="824805" y="237961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defect warranty on all items · 100% replacement for manufacturing defects</a:t>
            </a:r>
            <a:endParaRPr lang="en-US" sz="730" dirty="0"/>
          </a:p>
        </p:txBody>
      </p:sp>
      <p:sp>
        <p:nvSpPr>
          <p:cNvPr id="35" name="Text 28"/>
          <p:cNvSpPr/>
          <p:nvPr/>
        </p:nvSpPr>
        <p:spPr>
          <a:xfrm>
            <a:off x="4714875" y="219104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4824710" y="228689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72716" y="2334899"/>
            <a:ext cx="132588" cy="13258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39630" y="227930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AMBASSADOR PROGRAM</a:t>
            </a:r>
            <a:endParaRPr lang="en-US" sz="620" dirty="0"/>
          </a:p>
        </p:txBody>
      </p:sp>
      <p:sp>
        <p:nvSpPr>
          <p:cNvPr id="39" name="Text 31"/>
          <p:cNvSpPr/>
          <p:nvPr/>
        </p:nvSpPr>
        <p:spPr>
          <a:xfrm>
            <a:off x="5139630" y="237961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at selfmadelegendsz.com/partners · Commission-based + product gifting included</a:t>
            </a:r>
            <a:endParaRPr lang="en-US" sz="730" dirty="0"/>
          </a:p>
        </p:txBody>
      </p:sp>
      <p:sp>
        <p:nvSpPr>
          <p:cNvPr id="40" name="Text 32"/>
          <p:cNvSpPr/>
          <p:nvPr/>
        </p:nvSpPr>
        <p:spPr>
          <a:xfrm>
            <a:off x="400050" y="266089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509885" y="275674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7891" y="2804749"/>
            <a:ext cx="132588" cy="13258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824805" y="274915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CONTACT</a:t>
            </a:r>
            <a:endParaRPr lang="en-US" sz="620" dirty="0"/>
          </a:p>
        </p:txBody>
      </p:sp>
      <p:sp>
        <p:nvSpPr>
          <p:cNvPr id="44" name="Text 35"/>
          <p:cNvSpPr/>
          <p:nvPr/>
        </p:nvSpPr>
        <p:spPr>
          <a:xfrm>
            <a:off x="824805" y="284946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orders@selfmadelegendsz.com  ·  [ ADD PHONE NUMBER ]</a:t>
            </a:r>
            <a:endParaRPr lang="en-US" sz="730" dirty="0"/>
          </a:p>
        </p:txBody>
      </p:sp>
      <p:sp>
        <p:nvSpPr>
          <p:cNvPr id="45" name="Text 36"/>
          <p:cNvSpPr/>
          <p:nvPr/>
        </p:nvSpPr>
        <p:spPr>
          <a:xfrm>
            <a:off x="4714875" y="266089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7"/>
          <p:cNvSpPr/>
          <p:nvPr/>
        </p:nvSpPr>
        <p:spPr>
          <a:xfrm>
            <a:off x="4824710" y="275674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72716" y="2804749"/>
            <a:ext cx="132588" cy="13258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5139630" y="274915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ONLINE</a:t>
            </a:r>
            <a:endParaRPr lang="en-US" sz="620" dirty="0"/>
          </a:p>
        </p:txBody>
      </p:sp>
      <p:sp>
        <p:nvSpPr>
          <p:cNvPr id="49" name="Text 39"/>
          <p:cNvSpPr/>
          <p:nvPr/>
        </p:nvSpPr>
        <p:spPr>
          <a:xfrm>
            <a:off x="5139630" y="284946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  ·  @SelfMadeLegends on all platforms</a:t>
            </a:r>
            <a:endParaRPr lang="en-US" sz="730" dirty="0"/>
          </a:p>
        </p:txBody>
      </p:sp>
      <p:sp>
        <p:nvSpPr>
          <p:cNvPr id="50" name="Text 40"/>
          <p:cNvSpPr/>
          <p:nvPr/>
        </p:nvSpPr>
        <p:spPr>
          <a:xfrm>
            <a:off x="0" y="4885730"/>
            <a:ext cx="9144000" cy="257770"/>
          </a:xfrm>
          <a:prstGeom prst="rect">
            <a:avLst/>
          </a:prstGeom>
          <a:solidFill>
            <a:srgbClr val="C9A84C">
              <a:alpha val="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1"/>
          <p:cNvSpPr/>
          <p:nvPr/>
        </p:nvSpPr>
        <p:spPr>
          <a:xfrm>
            <a:off x="0" y="4885730"/>
            <a:ext cx="914400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2"/>
          <p:cNvSpPr/>
          <p:nvPr/>
        </p:nvSpPr>
        <p:spPr>
          <a:xfrm>
            <a:off x="2025700" y="4965948"/>
            <a:ext cx="150253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</a:t>
            </a:r>
            <a:endParaRPr lang="en-US" sz="560" dirty="0"/>
          </a:p>
        </p:txBody>
      </p:sp>
      <p:sp>
        <p:nvSpPr>
          <p:cNvPr id="53" name="Text 43"/>
          <p:cNvSpPr/>
          <p:nvPr/>
        </p:nvSpPr>
        <p:spPr>
          <a:xfrm>
            <a:off x="3477964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4"/>
          <p:cNvSpPr/>
          <p:nvPr/>
        </p:nvSpPr>
        <p:spPr>
          <a:xfrm>
            <a:off x="3585865" y="4965948"/>
            <a:ext cx="71247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</a:t>
            </a:r>
            <a:endParaRPr lang="en-US" sz="560" dirty="0"/>
          </a:p>
        </p:txBody>
      </p:sp>
      <p:sp>
        <p:nvSpPr>
          <p:cNvPr id="55" name="Text 45"/>
          <p:cNvSpPr/>
          <p:nvPr/>
        </p:nvSpPr>
        <p:spPr>
          <a:xfrm>
            <a:off x="4319885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6"/>
          <p:cNvSpPr/>
          <p:nvPr/>
        </p:nvSpPr>
        <p:spPr>
          <a:xfrm>
            <a:off x="4427786" y="4965948"/>
            <a:ext cx="154297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LUXURY STREETWEAR</a:t>
            </a:r>
            <a:endParaRPr lang="en-US" sz="560" dirty="0"/>
          </a:p>
        </p:txBody>
      </p:sp>
      <p:sp>
        <p:nvSpPr>
          <p:cNvPr id="57" name="Text 47"/>
          <p:cNvSpPr/>
          <p:nvPr/>
        </p:nvSpPr>
        <p:spPr>
          <a:xfrm>
            <a:off x="5916811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48"/>
          <p:cNvSpPr/>
          <p:nvPr/>
        </p:nvSpPr>
        <p:spPr>
          <a:xfrm>
            <a:off x="6024711" y="4965948"/>
            <a:ext cx="120278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5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7015" y="0"/>
            <a:ext cx="642997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60000">
                <a:srgbClr val="FFFFFF"/>
              </a:gs>
              <a:gs pos="30000">
                <a:srgbClr val="000000">
                  <a:alpha val="0"/>
                </a:srgbClr>
              </a:gs>
              <a:gs pos="100000">
                <a:srgbClr val="080808">
                  <a:alpha val="85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343620" y="800100"/>
            <a:ext cx="13841" cy="13841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715720" y="628650"/>
            <a:ext cx="21580" cy="21580"/>
          </a:xfrm>
          <a:prstGeom prst="ellipse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572220" y="4143970"/>
            <a:ext cx="13841" cy="13841"/>
          </a:xfrm>
          <a:prstGeom prst="ellipse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500491" y="4000500"/>
            <a:ext cx="13841" cy="13841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0360" y="1428750"/>
            <a:ext cx="21580" cy="21580"/>
          </a:xfrm>
          <a:prstGeom prst="ellipse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8572500" y="2143720"/>
            <a:ext cx="13841" cy="13841"/>
          </a:xfrm>
          <a:prstGeom prst="ellipse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357741" y="3143250"/>
            <a:ext cx="7590" cy="759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572000" y="1143000"/>
            <a:ext cx="7590" cy="7590"/>
          </a:xfrm>
          <a:prstGeom prst="ellipse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71450" y="4629150"/>
            <a:ext cx="9525" cy="34290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963025" y="4629150"/>
            <a:ext cx="9525" cy="34290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729551" y="565249"/>
            <a:ext cx="168474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560" kern="0" spc="252" dirty="0">
                <a:solidFill>
                  <a:srgbClr val="8B7A4A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LEGEND CONTINUES</a:t>
            </a:r>
            <a:endParaRPr lang="en-US" sz="560" dirty="0"/>
          </a:p>
        </p:txBody>
      </p:sp>
      <p:sp>
        <p:nvSpPr>
          <p:cNvPr id="15" name="Text 12"/>
          <p:cNvSpPr/>
          <p:nvPr/>
        </p:nvSpPr>
        <p:spPr>
          <a:xfrm>
            <a:off x="-91440" y="742950"/>
            <a:ext cx="9326880" cy="1381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180"/>
              </a:lnSpc>
              <a:buNone/>
            </a:pPr>
            <a:r>
              <a:rPr lang="en-US" sz="5180" b="1" kern="0" spc="932" dirty="0">
                <a:solidFill>
                  <a:srgbClr val="C9A84C"/>
                </a:solidFill>
                <a:effectLst>
                  <a:glow rad="2143125">
                    <a:srgbClr val="C9A84C">
                      <a:alpha val="6000"/>
                    </a:srgbClr>
                  </a:glo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THE LEGEND.</a:t>
            </a:r>
            <a:endParaRPr lang="en-US" sz="5180" dirty="0"/>
          </a:p>
        </p:txBody>
      </p:sp>
      <p:sp>
        <p:nvSpPr>
          <p:cNvPr id="16" name="Text 13"/>
          <p:cNvSpPr/>
          <p:nvPr/>
        </p:nvSpPr>
        <p:spPr>
          <a:xfrm>
            <a:off x="3286125" y="2186732"/>
            <a:ext cx="257175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386013" y="2322463"/>
            <a:ext cx="4371975" cy="614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36"/>
              </a:lnSpc>
              <a:buNone/>
            </a:pPr>
            <a:r>
              <a:rPr lang="en-US" sz="960" kern="0" spc="38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in this catalog was made for those who build their own way —</a:t>
            </a:r>
            <a:br/>
            <a:r>
              <a:rPr lang="en-US" sz="960" kern="0" spc="38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shortcuts, no limits, no apologies.</a:t>
            </a:r>
            <a:endParaRPr lang="en-US" sz="960" dirty="0"/>
          </a:p>
        </p:txBody>
      </p:sp>
      <p:sp>
        <p:nvSpPr>
          <p:cNvPr id="18" name="Text 15"/>
          <p:cNvSpPr/>
          <p:nvPr/>
        </p:nvSpPr>
        <p:spPr>
          <a:xfrm>
            <a:off x="4293245" y="3050828"/>
            <a:ext cx="557510" cy="557510"/>
          </a:xfrm>
          <a:prstGeom prst="ellipse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9525">
            <a:solidFill>
              <a:srgbClr val="C9A84C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9635" y="3217218"/>
            <a:ext cx="224730" cy="22473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418112" y="3657749"/>
            <a:ext cx="30777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620" kern="0" spc="310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620" dirty="0"/>
          </a:p>
        </p:txBody>
      </p:sp>
      <p:sp>
        <p:nvSpPr>
          <p:cNvPr id="21" name="Text 17"/>
          <p:cNvSpPr/>
          <p:nvPr/>
        </p:nvSpPr>
        <p:spPr>
          <a:xfrm>
            <a:off x="3318145" y="3834110"/>
            <a:ext cx="2507560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75"/>
              </a:lnSpc>
              <a:buNone/>
            </a:pPr>
            <a:r>
              <a:rPr lang="en-US" sz="650" kern="0" spc="227" dirty="0">
                <a:solidFill>
                  <a:srgbClr val="C9A84C">
                    <a:alpha val="9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 ·  EST. 2026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3857625" y="4058245"/>
            <a:ext cx="142875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9120" y="4240345"/>
            <a:ext cx="132588" cy="1325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641223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3817590" y="4295775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16359" y="4240345"/>
            <a:ext cx="132588" cy="1325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128462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28" name="Text 22"/>
          <p:cNvSpPr/>
          <p:nvPr/>
        </p:nvSpPr>
        <p:spPr>
          <a:xfrm>
            <a:off x="5304830" y="4295775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3599" y="4240345"/>
            <a:ext cx="132588" cy="1325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615702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31" name="Text 24"/>
          <p:cNvSpPr/>
          <p:nvPr/>
        </p:nvSpPr>
        <p:spPr>
          <a:xfrm>
            <a:off x="3976100" y="4433292"/>
            <a:ext cx="1299701" cy="144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40"/>
              </a:lnSpc>
              <a:buNone/>
            </a:pPr>
            <a:r>
              <a:rPr lang="en-US" sz="760" kern="0" spc="167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76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93353" y="4439403"/>
            <a:ext cx="132588" cy="1325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57200" y="4871740"/>
            <a:ext cx="82296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2797865" y="4936480"/>
            <a:ext cx="354827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560" kern="0" spc="45" dirty="0">
                <a:solidFill>
                  <a:srgbClr val="F5EDD6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Self Made Legends. All Rights Reserved. Unauthorized reproduction prohibited.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King Leo Brown</cp:lastModifiedBy>
  <cp:revision>2</cp:revision>
  <dcterms:created xsi:type="dcterms:W3CDTF">2026-08-26T09:23:02Z</dcterms:created>
  <dcterms:modified xsi:type="dcterms:W3CDTF">2026-08-29T09:43:56Z</dcterms:modified>
</cp:coreProperties>
</file>