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B6C0"/>
    <a:srgbClr val="0ED3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675" autoAdjust="0"/>
  </p:normalViewPr>
  <p:slideViewPr>
    <p:cSldViewPr snapToGrid="0">
      <p:cViewPr varScale="1">
        <p:scale>
          <a:sx n="58" d="100"/>
          <a:sy n="58" d="100"/>
        </p:scale>
        <p:origin x="16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D6112-414B-2786-CD85-DA84036FB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340685" cy="2198479"/>
          </a:xfrm>
          <a:noFill/>
          <a:effectLst>
            <a:glow rad="444500">
              <a:schemeClr val="accent1">
                <a:lumMod val="60000"/>
                <a:lumOff val="40000"/>
                <a:alpha val="60000"/>
              </a:schemeClr>
            </a:glow>
            <a:outerShdw blurRad="50800" dist="38100" dir="1800000" algn="l" rotWithShape="0">
              <a:schemeClr val="tx2">
                <a:lumMod val="75000"/>
                <a:alpha val="40000"/>
              </a:schemeClr>
            </a:outerShdw>
            <a:reflection stA="0" endPos="65000" dist="50800" dir="5400000" sy="-100000" algn="bl" rotWithShape="0"/>
          </a:effectLst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PROFESSIONAL ORGANIZATION SERVICES</a:t>
            </a:r>
            <a:br>
              <a:rPr lang="en-US" sz="28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2800" i="1" dirty="0">
                <a:solidFill>
                  <a:schemeClr val="accent5">
                    <a:lumMod val="75000"/>
                  </a:schemeClr>
                </a:solidFill>
                <a:effectLst/>
              </a:rPr>
              <a:t>(Not cleaning — pure organization, structure, and systems.)</a:t>
            </a:r>
            <a:br>
              <a:rPr lang="en-US" sz="28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2800" dirty="0">
                <a:solidFill>
                  <a:schemeClr val="accent5">
                    <a:lumMod val="75000"/>
                  </a:schemeClr>
                </a:solidFill>
                <a:effectLst/>
              </a:rPr>
              <a:t>Decluttering • Labeling • Sorting • Space Optimization • Digital Organization</a:t>
            </a:r>
            <a:endParaRPr lang="en-US" sz="28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04EEFE-7B62-E7A0-01AD-77B1FF125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32183" y="3304118"/>
            <a:ext cx="13506680" cy="3804583"/>
          </a:xfrm>
          <a:effectLst>
            <a:glow rad="1028700">
              <a:srgbClr val="F4B6C0">
                <a:alpha val="31000"/>
              </a:srgbClr>
            </a:glow>
            <a:outerShdw blurRad="50800" dist="50800" dir="5400000" algn="ctr" rotWithShape="0">
              <a:schemeClr val="tx2">
                <a:lumMod val="75000"/>
                <a:alpha val="49000"/>
              </a:schemeClr>
            </a:outerShdw>
          </a:effectLst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glow rad="127000">
                    <a:schemeClr val="tx2">
                      <a:lumMod val="75000"/>
                    </a:schemeClr>
                  </a:glo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Call, Text, or Email</a:t>
            </a:r>
          </a:p>
          <a:p>
            <a:pPr>
              <a:lnSpc>
                <a:spcPct val="100000"/>
              </a:lnSpc>
            </a:pPr>
            <a:r>
              <a:rPr lang="en-US" sz="3400" dirty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glow rad="127000">
                    <a:schemeClr val="tx2">
                      <a:lumMod val="75000"/>
                    </a:schemeClr>
                  </a:glo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Shades Of Brown, L.L.C</a:t>
            </a:r>
            <a:r>
              <a:rPr lang="en-US" sz="3600" dirty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glow rad="127000">
                    <a:schemeClr val="tx2">
                      <a:lumMod val="75000"/>
                    </a:schemeClr>
                  </a:glo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3600" dirty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glow rad="127000">
                    <a:schemeClr val="tx2">
                      <a:lumMod val="75000"/>
                    </a:schemeClr>
                  </a:glo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816.287.2389</a:t>
            </a:r>
          </a:p>
          <a:p>
            <a:pPr>
              <a:lnSpc>
                <a:spcPct val="100000"/>
              </a:lnSpc>
            </a:pPr>
            <a:r>
              <a:rPr lang="en-US" sz="3600" dirty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glow rad="127000">
                    <a:schemeClr val="tx2">
                      <a:lumMod val="75000"/>
                    </a:schemeClr>
                  </a:glo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fyi@myasbllc.com</a:t>
            </a:r>
          </a:p>
          <a:p>
            <a:pPr>
              <a:lnSpc>
                <a:spcPct val="100000"/>
              </a:lnSpc>
            </a:pPr>
            <a:r>
              <a:rPr lang="en-US" sz="3600" dirty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glow rad="127000">
                    <a:schemeClr val="tx2">
                      <a:lumMod val="75000"/>
                    </a:schemeClr>
                  </a:glo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www.myasbllc.com</a:t>
            </a:r>
          </a:p>
          <a:p>
            <a:pPr>
              <a:lnSpc>
                <a:spcPct val="100000"/>
              </a:lnSpc>
            </a:pPr>
            <a:endParaRPr lang="en-US" sz="600" dirty="0"/>
          </a:p>
          <a:p>
            <a:pPr>
              <a:lnSpc>
                <a:spcPct val="100000"/>
              </a:lnSpc>
            </a:pPr>
            <a:endParaRPr lang="en-US" sz="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F6D1F5-CF30-C5B4-2844-7EB8E7CFE24C}"/>
              </a:ext>
            </a:extLst>
          </p:cNvPr>
          <p:cNvSpPr txBox="1"/>
          <p:nvPr/>
        </p:nvSpPr>
        <p:spPr>
          <a:xfrm>
            <a:off x="0" y="2245831"/>
            <a:ext cx="7612656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Organize It All</a:t>
            </a:r>
          </a:p>
          <a:p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Homes • Offices • Classrooms • Playrooms • Rec Rooms • Breakrooms</a:t>
            </a: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 </a:t>
            </a: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Garages • Sheds • Basements • Sewing/Laundry Rooms • Kitchen Cabinets</a:t>
            </a: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 </a:t>
            </a: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Cubby Spaces • Kids’ Rooms • Workspaces • Shelving • Walk‑In Closets</a:t>
            </a: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 </a:t>
            </a: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Storefront Shelves • Floor Rooms • Inventory Spaces</a:t>
            </a:r>
          </a:p>
          <a:p>
            <a:r>
              <a:rPr lang="en-US" sz="2400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Specialty Collections</a:t>
            </a:r>
          </a:p>
          <a:p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Antiques (handling experience) •</a:t>
            </a: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 </a:t>
            </a: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Collectibles</a:t>
            </a: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 </a:t>
            </a: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Sports &amp; Trading Cards</a:t>
            </a: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 </a:t>
            </a: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• Pokémon Cards</a:t>
            </a: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 </a:t>
            </a: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• Music/Vinyl Collections •</a:t>
            </a: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 </a:t>
            </a: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Memorabilia</a:t>
            </a: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 </a:t>
            </a: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• Sentimental Items</a:t>
            </a:r>
            <a:endParaRPr lang="en-US" sz="2000" dirty="0">
              <a:solidFill>
                <a:schemeClr val="accent5">
                  <a:lumMod val="40000"/>
                  <a:lumOff val="60000"/>
                </a:schemeClr>
              </a:solidFill>
              <a:latin typeface="Cavolini" panose="020B0502040204020203" pitchFamily="66" charset="0"/>
              <a:cs typeface="Cavolini" panose="020B0502040204020203" pitchFamily="66" charset="0"/>
            </a:endParaRPr>
          </a:p>
          <a:p>
            <a:r>
              <a:rPr lang="en-US" sz="2400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Digital Organization</a:t>
            </a:r>
          </a:p>
          <a:p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Email Cleanup •</a:t>
            </a: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 </a:t>
            </a: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Calendar Setup</a:t>
            </a: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 </a:t>
            </a: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• Folder Structuring</a:t>
            </a: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 </a:t>
            </a: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• File Naming Systems</a:t>
            </a: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 </a:t>
            </a: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• Workflow Optimization •</a:t>
            </a: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 </a:t>
            </a: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Small Business Digital Tidying</a:t>
            </a:r>
            <a:endParaRPr lang="en-US" sz="2000" dirty="0">
              <a:solidFill>
                <a:schemeClr val="accent5">
                  <a:lumMod val="40000"/>
                  <a:lumOff val="60000"/>
                </a:schemeClr>
              </a:solidFill>
              <a:latin typeface="Cavolini" panose="020B0502040204020203" pitchFamily="66" charset="0"/>
              <a:cs typeface="Cavolini" panose="020B0502040204020203" pitchFamily="66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6868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42332"/>
      </a:dk2>
      <a:lt2>
        <a:srgbClr val="EE91A0"/>
      </a:lt2>
      <a:accent1>
        <a:srgbClr val="E03754"/>
      </a:accent1>
      <a:accent2>
        <a:srgbClr val="E86C2E"/>
      </a:accent2>
      <a:accent3>
        <a:srgbClr val="DAB250"/>
      </a:accent3>
      <a:accent4>
        <a:srgbClr val="60C4AA"/>
      </a:accent4>
      <a:accent5>
        <a:srgbClr val="51A9DB"/>
      </a:accent5>
      <a:accent6>
        <a:srgbClr val="976AC9"/>
      </a:accent6>
      <a:hlink>
        <a:srgbClr val="D5445E"/>
      </a:hlink>
      <a:folHlink>
        <a:srgbClr val="E17C8E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6B2E858E-683F-40D9-B4CB-284D097F3AC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3334</TotalTime>
  <Words>155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Bookman Old Style</vt:lpstr>
      <vt:lpstr>Cavolini</vt:lpstr>
      <vt:lpstr>Rockwell</vt:lpstr>
      <vt:lpstr>Tahoma</vt:lpstr>
      <vt:lpstr>Damask</vt:lpstr>
      <vt:lpstr>PROFESSIONAL ORGANIZATION SERVICES (Not cleaning — pure organization, structure, and systems.) Decluttering • Labeling • Sorting • Space Optimization • Digital Organization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AnaRose Murillo</dc:creator>
  <cp:lastModifiedBy>AnaRose Murillo</cp:lastModifiedBy>
  <cp:revision>1</cp:revision>
  <dcterms:created xsi:type="dcterms:W3CDTF">2026-08-08T05:54:04Z</dcterms:created>
  <dcterms:modified xsi:type="dcterms:W3CDTF">2026-08-10T13:28:44Z</dcterms:modified>
</cp:coreProperties>
</file>